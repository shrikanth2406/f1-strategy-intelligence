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6" r:id="rId7"/>
    <p:sldId id="260" r:id="rId8"/>
    <p:sldId id="267" r:id="rId9"/>
    <p:sldId id="262"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F11C3AFA-B88E-1DFB-ACFC-BFD2FC51C756}">
          <p14:sldIdLst>
            <p14:sldId id="256"/>
          </p14:sldIdLst>
        </p14:section>
        <p14:section name="Content" id="{59489015-FFC3-A5FA-652D-5E0ED2252C22}">
          <p14:sldIdLst>
            <p14:sldId id="257"/>
            <p14:sldId id="258"/>
            <p14:sldId id="259"/>
            <p14:sldId id="261"/>
            <p14:sldId id="266"/>
            <p14:sldId id="260"/>
            <p14:sldId id="267"/>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525" y="5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822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D0B38-88D0-0266-B40C-98235D0E1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E7E7F-C853-4084-C252-45B967B0A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C6BCA-ED2F-C96D-9E9C-CD6A5DAF71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A5EE1F-C99D-5142-FDE5-4A81E0BB48B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004467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B27C2-0B5C-073B-97D0-45647B70A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CACE7-60FB-4A71-4A47-E7335778A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B2470-6362-C686-6FAA-553A4C385C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4AEBD1-2BE2-85C7-F5F7-4836C4B82F8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38473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10600"/>
          </a:solidFill>
          <a:ln/>
        </p:spPr>
        <p:txBody>
          <a:bodyPr/>
          <a:lstStyle/>
          <a:p>
            <a:endParaRPr lang="en-US"/>
          </a:p>
        </p:txBody>
      </p:sp>
      <p:sp>
        <p:nvSpPr>
          <p:cNvPr id="3" name="Shape 1"/>
          <p:cNvSpPr/>
          <p:nvPr/>
        </p:nvSpPr>
        <p:spPr>
          <a:xfrm>
            <a:off x="0" y="4956048"/>
            <a:ext cx="9144000" cy="54864"/>
          </a:xfrm>
          <a:prstGeom prst="rect">
            <a:avLst/>
          </a:prstGeom>
          <a:solidFill>
            <a:srgbClr val="E10600"/>
          </a:solidFill>
          <a:ln/>
        </p:spPr>
        <p:txBody>
          <a:bodyPr/>
          <a:lstStyle/>
          <a:p>
            <a:endParaRPr lang="en-US"/>
          </a:p>
        </p:txBody>
      </p:sp>
      <p:sp>
        <p:nvSpPr>
          <p:cNvPr id="4" name="Shape 2"/>
          <p:cNvSpPr/>
          <p:nvPr/>
        </p:nvSpPr>
        <p:spPr>
          <a:xfrm>
            <a:off x="0" y="0"/>
            <a:ext cx="36576" cy="5143500"/>
          </a:xfrm>
          <a:prstGeom prst="rect">
            <a:avLst/>
          </a:prstGeom>
          <a:solidFill>
            <a:srgbClr val="E10600"/>
          </a:solidFill>
          <a:ln/>
        </p:spPr>
        <p:txBody>
          <a:bodyPr/>
          <a:lstStyle/>
          <a:p>
            <a:endParaRPr lang="en-US"/>
          </a:p>
        </p:txBody>
      </p:sp>
      <p:sp>
        <p:nvSpPr>
          <p:cNvPr id="5" name="Shape 3"/>
          <p:cNvSpPr/>
          <p:nvPr/>
        </p:nvSpPr>
        <p:spPr>
          <a:xfrm>
            <a:off x="7772400" y="5010912"/>
            <a:ext cx="1371600" cy="132588"/>
          </a:xfrm>
          <a:prstGeom prst="rect">
            <a:avLst/>
          </a:prstGeom>
          <a:solidFill>
            <a:srgbClr val="E10600"/>
          </a:solidFill>
          <a:ln/>
        </p:spPr>
        <p:txBody>
          <a:bodyPr/>
          <a:lstStyle/>
          <a:p>
            <a:endParaRPr lang="en-US"/>
          </a:p>
        </p:txBody>
      </p:sp>
      <p:sp>
        <p:nvSpPr>
          <p:cNvPr id="6" name="Shape 4"/>
          <p:cNvSpPr/>
          <p:nvPr/>
        </p:nvSpPr>
        <p:spPr>
          <a:xfrm>
            <a:off x="914400" y="914400"/>
            <a:ext cx="914400" cy="914400"/>
          </a:xfrm>
          <a:prstGeom prst="line">
            <a:avLst/>
          </a:prstGeom>
          <a:noFill/>
          <a:ln w="6350">
            <a:solidFill>
              <a:srgbClr val="333333"/>
            </a:solidFill>
            <a:prstDash val="solid"/>
          </a:ln>
        </p:spPr>
        <p:txBody>
          <a:bodyPr/>
          <a:lstStyle/>
          <a:p>
            <a:endParaRPr lang="en-US"/>
          </a:p>
        </p:txBody>
      </p:sp>
      <p:sp>
        <p:nvSpPr>
          <p:cNvPr id="7" name="Shape 5"/>
          <p:cNvSpPr/>
          <p:nvPr/>
        </p:nvSpPr>
        <p:spPr>
          <a:xfrm>
            <a:off x="914400" y="914400"/>
            <a:ext cx="914400" cy="914400"/>
          </a:xfrm>
          <a:prstGeom prst="line">
            <a:avLst/>
          </a:prstGeom>
          <a:noFill/>
          <a:ln w="6350">
            <a:solidFill>
              <a:srgbClr val="333333"/>
            </a:solidFill>
            <a:prstDash val="solid"/>
          </a:ln>
        </p:spPr>
        <p:txBody>
          <a:bodyPr/>
          <a:lstStyle/>
          <a:p>
            <a:endParaRPr lang="en-US"/>
          </a:p>
        </p:txBody>
      </p:sp>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LID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10600"/>
          </a:solidFill>
          <a:ln/>
        </p:spPr>
      </p:sp>
      <p:sp>
        <p:nvSpPr>
          <p:cNvPr id="3" name="Shape 1"/>
          <p:cNvSpPr/>
          <p:nvPr/>
        </p:nvSpPr>
        <p:spPr>
          <a:xfrm>
            <a:off x="0" y="0"/>
            <a:ext cx="36576" cy="5143500"/>
          </a:xfrm>
          <a:prstGeom prst="rect">
            <a:avLst/>
          </a:prstGeom>
          <a:solidFill>
            <a:srgbClr val="E10600"/>
          </a:solidFill>
          <a:ln/>
        </p:spPr>
      </p:sp>
      <p:sp>
        <p:nvSpPr>
          <p:cNvPr id="4" name="Shape 2"/>
          <p:cNvSpPr/>
          <p:nvPr/>
        </p:nvSpPr>
        <p:spPr>
          <a:xfrm>
            <a:off x="0" y="4800600"/>
            <a:ext cx="9144000" cy="342900"/>
          </a:xfrm>
          <a:prstGeom prst="rect">
            <a:avLst/>
          </a:prstGeom>
          <a:solidFill>
            <a:srgbClr val="F2F2F2"/>
          </a:solidFill>
          <a:ln/>
        </p:spPr>
      </p:sp>
      <p:sp>
        <p:nvSpPr>
          <p:cNvPr id="5" name="Shape 3"/>
          <p:cNvSpPr/>
          <p:nvPr/>
        </p:nvSpPr>
        <p:spPr>
          <a:xfrm>
            <a:off x="0" y="5106924"/>
            <a:ext cx="9144000" cy="36576"/>
          </a:xfrm>
          <a:prstGeom prst="rect">
            <a:avLst/>
          </a:prstGeom>
          <a:solidFill>
            <a:srgbClr val="E10600"/>
          </a:solidFill>
          <a:ln/>
        </p:spPr>
      </p:sp>
      <p:sp>
        <p:nvSpPr>
          <p:cNvPr id="6" name="Text 4"/>
          <p:cNvSpPr txBox="1"/>
          <p:nvPr/>
        </p:nvSpPr>
        <p:spPr>
          <a:xfrm>
            <a:off x="457200" y="4828032"/>
            <a:ext cx="5486400" cy="274320"/>
          </a:xfrm>
          <a:prstGeom prst="rect">
            <a:avLst/>
          </a:prstGeom>
          <a:noFill/>
          <a:ln/>
        </p:spPr>
        <p:txBody>
          <a:bodyPr wrap="square" rtlCol="0" anchor="ctr"/>
          <a:lstStyle/>
          <a:p>
            <a:pPr marL="0" indent="0">
              <a:buNone/>
            </a:pPr>
            <a:r>
              <a:rPr lang="en-US" sz="800" dirty="0">
                <a:solidFill>
                  <a:srgbClr val="999999"/>
                </a:solidFill>
              </a:rPr>
              <a:t>F1 Race Strategy Intelligence Platform</a:t>
            </a:r>
            <a:endParaRPr lang="en-US" sz="8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IVIDER">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10600"/>
          </a:solidFill>
          <a:ln/>
        </p:spPr>
      </p:sp>
      <p:sp>
        <p:nvSpPr>
          <p:cNvPr id="3" name="Shape 1"/>
          <p:cNvSpPr/>
          <p:nvPr/>
        </p:nvSpPr>
        <p:spPr>
          <a:xfrm>
            <a:off x="0" y="4956048"/>
            <a:ext cx="9144000" cy="54864"/>
          </a:xfrm>
          <a:prstGeom prst="rect">
            <a:avLst/>
          </a:prstGeom>
          <a:solidFill>
            <a:srgbClr val="E10600"/>
          </a:solidFill>
          <a:ln/>
        </p:spPr>
      </p:sp>
      <p:sp>
        <p:nvSpPr>
          <p:cNvPr id="4" name="Shape 2"/>
          <p:cNvSpPr/>
          <p:nvPr/>
        </p:nvSpPr>
        <p:spPr>
          <a:xfrm>
            <a:off x="457200" y="1371600"/>
            <a:ext cx="54864" cy="2286000"/>
          </a:xfrm>
          <a:prstGeom prst="rect">
            <a:avLst/>
          </a:prstGeom>
          <a:solidFill>
            <a:srgbClr val="E10600"/>
          </a:solidFill>
          <a:ln/>
        </p:spPr>
      </p:sp>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mailto:roopesh.s@northeastern.edu" TargetMode="External"/><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shrikanth-roopesh.netlify.app/" TargetMode="External"/><Relationship Id="rId5" Type="http://schemas.openxmlformats.org/officeDocument/2006/relationships/hyperlink" Target="https://github.com/shrikanth2406/f1-strategy-intelligence" TargetMode="External"/><Relationship Id="rId4" Type="http://schemas.openxmlformats.org/officeDocument/2006/relationships/hyperlink" Target="https://www.linkedin.com/in/shrikanth-roopesh/?isSelfProfile=fal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80160"/>
            <a:ext cx="7863840" cy="1645920"/>
          </a:xfrm>
          <a:prstGeom prst="rect">
            <a:avLst/>
          </a:prstGeom>
          <a:noFill/>
          <a:ln/>
        </p:spPr>
        <p:txBody>
          <a:bodyPr wrap="square" rtlCol="0" anchor="ctr"/>
          <a:lstStyle/>
          <a:p>
            <a:pPr marL="0" indent="0">
              <a:lnSpc>
                <a:spcPct val="110000"/>
              </a:lnSpc>
              <a:buNone/>
            </a:pPr>
            <a:r>
              <a:rPr lang="en-US" sz="3800" b="1" dirty="0">
                <a:solidFill>
                  <a:srgbClr val="FFFFFF"/>
                </a:solidFill>
                <a:latin typeface="Calibri" pitchFamily="34" charset="0"/>
                <a:ea typeface="Calibri" pitchFamily="34" charset="-122"/>
                <a:cs typeface="Calibri" pitchFamily="34" charset="-120"/>
              </a:rPr>
              <a:t>F1 RACE STRATEGY</a:t>
            </a:r>
            <a:endParaRPr lang="en-US" sz="3800" dirty="0"/>
          </a:p>
          <a:p>
            <a:pPr marL="0" indent="0">
              <a:lnSpc>
                <a:spcPct val="110000"/>
              </a:lnSpc>
              <a:buNone/>
            </a:pPr>
            <a:r>
              <a:rPr lang="en-US" sz="3800" b="1" dirty="0">
                <a:solidFill>
                  <a:srgbClr val="FFFFFF"/>
                </a:solidFill>
                <a:latin typeface="Calibri" pitchFamily="34" charset="0"/>
                <a:ea typeface="Calibri" pitchFamily="34" charset="-122"/>
                <a:cs typeface="Calibri" pitchFamily="34" charset="-120"/>
              </a:rPr>
              <a:t>INTELLIGENCE PLATFORM</a:t>
            </a:r>
            <a:endParaRPr lang="en-US" sz="3800" dirty="0"/>
          </a:p>
        </p:txBody>
      </p:sp>
      <p:sp>
        <p:nvSpPr>
          <p:cNvPr id="3" name="Shape 1"/>
          <p:cNvSpPr/>
          <p:nvPr/>
        </p:nvSpPr>
        <p:spPr>
          <a:xfrm>
            <a:off x="693625" y="2921714"/>
            <a:ext cx="5171715" cy="54864"/>
          </a:xfrm>
          <a:prstGeom prst="rect">
            <a:avLst/>
          </a:prstGeom>
          <a:solidFill>
            <a:srgbClr val="E10600"/>
          </a:solidFill>
          <a:ln/>
        </p:spPr>
        <p:txBody>
          <a:bodyPr/>
          <a:lstStyle/>
          <a:p>
            <a:endParaRPr lang="en-US"/>
          </a:p>
        </p:txBody>
      </p:sp>
      <p:sp>
        <p:nvSpPr>
          <p:cNvPr id="4" name="Text 2"/>
          <p:cNvSpPr txBox="1"/>
          <p:nvPr/>
        </p:nvSpPr>
        <p:spPr>
          <a:xfrm>
            <a:off x="640080" y="3200400"/>
            <a:ext cx="7315200" cy="457200"/>
          </a:xfrm>
          <a:prstGeom prst="rect">
            <a:avLst/>
          </a:prstGeom>
          <a:noFill/>
          <a:ln/>
        </p:spPr>
        <p:txBody>
          <a:bodyPr wrap="square" rtlCol="0" anchor="ctr"/>
          <a:lstStyle/>
          <a:p>
            <a:pPr marL="0" indent="0">
              <a:buNone/>
            </a:pPr>
            <a:r>
              <a:rPr lang="en-US" sz="1600" dirty="0">
                <a:solidFill>
                  <a:srgbClr val="999999"/>
                </a:solidFill>
                <a:latin typeface="Calibri" pitchFamily="34" charset="0"/>
                <a:ea typeface="Calibri" pitchFamily="34" charset="-122"/>
                <a:cs typeface="Calibri" pitchFamily="34" charset="-120"/>
              </a:rPr>
              <a:t>A Product &amp; Operations Personal Project</a:t>
            </a:r>
            <a:endParaRPr lang="en-US" sz="1600" dirty="0"/>
          </a:p>
        </p:txBody>
      </p:sp>
      <p:sp>
        <p:nvSpPr>
          <p:cNvPr id="5" name="Text 3"/>
          <p:cNvSpPr txBox="1"/>
          <p:nvPr/>
        </p:nvSpPr>
        <p:spPr>
          <a:xfrm>
            <a:off x="640080" y="3657600"/>
            <a:ext cx="7315200" cy="731520"/>
          </a:xfrm>
          <a:prstGeom prst="rect">
            <a:avLst/>
          </a:prstGeom>
          <a:noFill/>
          <a:ln/>
        </p:spPr>
        <p:txBody>
          <a:bodyPr wrap="square" rtlCol="0" anchor="ctr"/>
          <a:lstStyle/>
          <a:p>
            <a:pPr marL="0" indent="0">
              <a:buNone/>
            </a:pPr>
            <a:r>
              <a:rPr lang="en-US" sz="1400" b="1" dirty="0">
                <a:solidFill>
                  <a:srgbClr val="FFFFFF"/>
                </a:solidFill>
              </a:rPr>
              <a:t>Shrikanth Roopesh</a:t>
            </a:r>
            <a:endParaRPr lang="en-US" sz="1400" dirty="0"/>
          </a:p>
          <a:p>
            <a:pPr marL="0" indent="0">
              <a:buNone/>
            </a:pPr>
            <a:r>
              <a:rPr lang="en-US" sz="1100" dirty="0">
                <a:solidFill>
                  <a:srgbClr val="999999"/>
                </a:solidFill>
              </a:rPr>
              <a:t>MS Engineering Management  |  Northeastern University  |  2026</a:t>
            </a:r>
            <a:endParaRPr lang="en-US" sz="1400" dirty="0"/>
          </a:p>
        </p:txBody>
      </p:sp>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1</a:t>
            </a:fld>
            <a:endParaRPr lang="en-US"/>
          </a:p>
        </p:txBody>
      </p:sp>
      <p:pic>
        <p:nvPicPr>
          <p:cNvPr id="12" name="Picture 11" descr="OpticalDreamSoft - Formula 1 Red Car F1 Season 2020 3D model">
            <a:extLst>
              <a:ext uri="{FF2B5EF4-FFF2-40B4-BE49-F238E27FC236}">
                <a16:creationId xmlns:a16="http://schemas.microsoft.com/office/drawing/2014/main" id="{4DB0CD89-17C4-726B-BFAA-67F98D461CB0}"/>
              </a:ext>
            </a:extLst>
          </p:cNvPr>
          <p:cNvPicPr>
            <a:picLocks noChangeAspect="1"/>
          </p:cNvPicPr>
          <p:nvPr/>
        </p:nvPicPr>
        <p:blipFill>
          <a:blip r:embed="rId3"/>
          <a:srcRect/>
          <a:stretch>
            <a:fillRect/>
          </a:stretch>
        </p:blipFill>
        <p:spPr>
          <a:xfrm>
            <a:off x="6316877" y="1943100"/>
            <a:ext cx="2571750" cy="2571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057738" y="1083276"/>
            <a:ext cx="7315200" cy="9144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PROBLEM</a:t>
            </a:r>
            <a:endParaRPr lang="en-US" sz="3600" dirty="0"/>
          </a:p>
        </p:txBody>
      </p:sp>
      <p:sp>
        <p:nvSpPr>
          <p:cNvPr id="3" name="Text 1"/>
          <p:cNvSpPr txBox="1"/>
          <p:nvPr/>
        </p:nvSpPr>
        <p:spPr>
          <a:xfrm>
            <a:off x="731520" y="1799968"/>
            <a:ext cx="5471572" cy="2260255"/>
          </a:xfrm>
          <a:prstGeom prst="rect">
            <a:avLst/>
          </a:prstGeom>
          <a:noFill/>
          <a:ln/>
        </p:spPr>
        <p:txBody>
          <a:bodyPr wrap="square" rtlCol="0" anchor="ctr"/>
          <a:lstStyle/>
          <a:p>
            <a:pPr marL="285750" indent="-285750" algn="just">
              <a:buFont typeface="Arial" panose="020B0604020202020204" pitchFamily="34" charset="0"/>
              <a:buChar char="•"/>
            </a:pPr>
            <a:r>
              <a:rPr lang="en-IN" sz="1600" dirty="0">
                <a:solidFill>
                  <a:srgbClr val="999999"/>
                </a:solidFill>
                <a:latin typeface="Calibri" pitchFamily="34" charset="0"/>
                <a:ea typeface="Calibri" pitchFamily="34" charset="-122"/>
                <a:cs typeface="Calibri" pitchFamily="34" charset="-120"/>
              </a:rPr>
              <a:t>F</a:t>
            </a:r>
            <a:r>
              <a:rPr lang="en-US" sz="1600" dirty="0">
                <a:solidFill>
                  <a:srgbClr val="999999"/>
                </a:solidFill>
                <a:latin typeface="Calibri" pitchFamily="34" charset="0"/>
                <a:ea typeface="Calibri" pitchFamily="34" charset="-122"/>
                <a:cs typeface="Calibri" pitchFamily="34" charset="-120"/>
              </a:rPr>
              <a:t>1 is at the center of data and speed. Analyzing huge loads of data in a matter of split seconds can win you the race or lose it. </a:t>
            </a:r>
          </a:p>
          <a:p>
            <a:pPr marL="285750" indent="-285750" algn="just">
              <a:buFont typeface="Arial" panose="020B0604020202020204" pitchFamily="34" charset="0"/>
              <a:buChar char="•"/>
            </a:pPr>
            <a:r>
              <a:rPr lang="en-US" sz="1600" dirty="0">
                <a:solidFill>
                  <a:srgbClr val="999999"/>
                </a:solidFill>
                <a:latin typeface="Calibri" pitchFamily="34" charset="0"/>
                <a:ea typeface="Calibri" pitchFamily="34" charset="-122"/>
                <a:cs typeface="Calibri" pitchFamily="34" charset="-120"/>
              </a:rPr>
              <a:t>The Pit Stops, Compound choice, Temperatures – everything plays a huge role. </a:t>
            </a:r>
          </a:p>
          <a:p>
            <a:pPr marL="285750" indent="-285750" algn="just">
              <a:buFont typeface="Arial" panose="020B0604020202020204" pitchFamily="34" charset="0"/>
              <a:buChar char="•"/>
            </a:pPr>
            <a:r>
              <a:rPr lang="en-US" sz="1600" dirty="0">
                <a:solidFill>
                  <a:srgbClr val="999999"/>
                </a:solidFill>
                <a:latin typeface="Calibri" pitchFamily="34" charset="0"/>
                <a:ea typeface="Calibri" pitchFamily="34" charset="-122"/>
                <a:cs typeface="Calibri" pitchFamily="34" charset="-120"/>
              </a:rPr>
              <a:t>Casual viewers have no way to access or understand this data without deep technical knowledge.</a:t>
            </a:r>
          </a:p>
          <a:p>
            <a:pPr marL="285750" indent="-285750" algn="just">
              <a:buFont typeface="Arial" panose="020B0604020202020204" pitchFamily="34" charset="0"/>
              <a:buChar char="•"/>
            </a:pPr>
            <a:endParaRPr lang="en-US" sz="1600" dirty="0"/>
          </a:p>
        </p:txBody>
      </p:sp>
      <p:sp>
        <p:nvSpPr>
          <p:cNvPr id="4" name="Shape 2"/>
          <p:cNvSpPr/>
          <p:nvPr/>
        </p:nvSpPr>
        <p:spPr>
          <a:xfrm>
            <a:off x="7566454" y="266083"/>
            <a:ext cx="1318054" cy="516512"/>
          </a:xfrm>
          <a:prstGeom prst="roundRect">
            <a:avLst>
              <a:gd name="adj" fmla="val 12500"/>
            </a:avLst>
          </a:prstGeom>
          <a:solidFill>
            <a:srgbClr val="E10600"/>
          </a:solidFill>
          <a:ln/>
        </p:spPr>
        <p:txBody>
          <a:bodyPr/>
          <a:lstStyle/>
          <a:p>
            <a:endParaRPr lang="en-US"/>
          </a:p>
        </p:txBody>
      </p:sp>
      <p:sp>
        <p:nvSpPr>
          <p:cNvPr id="5" name="Text 3"/>
          <p:cNvSpPr txBox="1"/>
          <p:nvPr/>
        </p:nvSpPr>
        <p:spPr>
          <a:xfrm>
            <a:off x="7566454" y="266083"/>
            <a:ext cx="1318054" cy="51651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The Users &amp; Success Metrics</a:t>
            </a:r>
            <a:endParaRPr lang="en-US" sz="2800" dirty="0"/>
          </a:p>
        </p:txBody>
      </p:sp>
      <p:sp>
        <p:nvSpPr>
          <p:cNvPr id="3" name="Shape 1"/>
          <p:cNvSpPr/>
          <p:nvPr/>
        </p:nvSpPr>
        <p:spPr>
          <a:xfrm>
            <a:off x="568410" y="860935"/>
            <a:ext cx="4172465" cy="45719"/>
          </a:xfrm>
          <a:prstGeom prst="rect">
            <a:avLst/>
          </a:prstGeom>
          <a:solidFill>
            <a:srgbClr val="E10600"/>
          </a:solidFill>
          <a:ln/>
        </p:spPr>
        <p:txBody>
          <a:bodyPr/>
          <a:lstStyle/>
          <a:p>
            <a:endParaRPr lang="en-US"/>
          </a:p>
        </p:txBody>
      </p:sp>
      <p:sp>
        <p:nvSpPr>
          <p:cNvPr id="4" name="Text 2"/>
          <p:cNvSpPr txBox="1"/>
          <p:nvPr/>
        </p:nvSpPr>
        <p:spPr>
          <a:xfrm>
            <a:off x="457200" y="1188720"/>
            <a:ext cx="7772400" cy="3200400"/>
          </a:xfrm>
          <a:prstGeom prst="rect">
            <a:avLst/>
          </a:prstGeom>
          <a:noFill/>
          <a:ln/>
        </p:spPr>
        <p:txBody>
          <a:bodyPr wrap="square" rtlCol="0" anchor="t"/>
          <a:lstStyle/>
          <a:p>
            <a:pPr marL="342900" indent="-342900" algn="just">
              <a:spcAft>
                <a:spcPts val="1200"/>
              </a:spcAft>
              <a:buSzPct val="100000"/>
              <a:buChar char="•"/>
            </a:pPr>
            <a:r>
              <a:rPr lang="en-IN" sz="1400" b="1" dirty="0"/>
              <a:t>Primary Users: </a:t>
            </a:r>
            <a:r>
              <a:rPr lang="en-IN" sz="1400" dirty="0"/>
              <a:t>F1 enthusiasts who want to understand tire strategy without reading the raw telemetry. </a:t>
            </a:r>
          </a:p>
          <a:p>
            <a:pPr marL="342900" indent="-342900" algn="just">
              <a:spcAft>
                <a:spcPts val="1200"/>
              </a:spcAft>
              <a:buSzPct val="100000"/>
              <a:buChar char="•"/>
            </a:pPr>
            <a:r>
              <a:rPr lang="en-IN" sz="1400" b="1" dirty="0"/>
              <a:t>Secondary Users: </a:t>
            </a:r>
            <a:r>
              <a:rPr lang="en-IN" sz="1400" dirty="0"/>
              <a:t>Aspiring F1 analysts, content creators and hobbyists data people. </a:t>
            </a:r>
          </a:p>
          <a:p>
            <a:pPr marL="342900" indent="-342900" algn="just">
              <a:spcAft>
                <a:spcPts val="1200"/>
              </a:spcAft>
              <a:buSzPct val="100000"/>
              <a:buChar char="•"/>
            </a:pPr>
            <a:r>
              <a:rPr lang="en-IN" sz="1400" b="1" dirty="0"/>
              <a:t>Success Metrics: </a:t>
            </a:r>
          </a:p>
          <a:p>
            <a:pPr marL="800100" lvl="1" indent="-342900" algn="just">
              <a:spcAft>
                <a:spcPts val="1200"/>
              </a:spcAft>
              <a:buSzPct val="80000"/>
              <a:buFont typeface="Wingdings" panose="05000000000000000000" pitchFamily="2" charset="2"/>
              <a:buChar char="Ø"/>
            </a:pPr>
            <a:r>
              <a:rPr lang="en-IN" sz="1400" dirty="0"/>
              <a:t> Can a non technical user understand degradation patterns from the dashboard?</a:t>
            </a:r>
          </a:p>
          <a:p>
            <a:pPr marL="800100" lvl="1" indent="-342900" algn="just">
              <a:spcAft>
                <a:spcPts val="1200"/>
              </a:spcAft>
              <a:buSzPct val="80000"/>
              <a:buFont typeface="Wingdings" panose="05000000000000000000" pitchFamily="2" charset="2"/>
              <a:buChar char="Ø"/>
            </a:pPr>
            <a:r>
              <a:rPr lang="en-IN" sz="1400" dirty="0"/>
              <a:t>Does the AI chatbot return the data backed answer and say it doesn’t know when it can’t.</a:t>
            </a:r>
          </a:p>
          <a:p>
            <a:pPr marL="800100" lvl="1" indent="-342900" algn="just">
              <a:spcAft>
                <a:spcPts val="1200"/>
              </a:spcAft>
              <a:buSzPct val="80000"/>
              <a:buFont typeface="Wingdings" panose="05000000000000000000" pitchFamily="2" charset="2"/>
              <a:buChar char="Ø"/>
            </a:pPr>
            <a:r>
              <a:rPr lang="en-IN" sz="1400" dirty="0"/>
              <a:t>Strategy prediction accuracy vs actual race results.</a:t>
            </a:r>
            <a:endParaRPr lang="en-US" sz="14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C97EA4B-08F5-CA0A-0279-7669F2403B73}"/>
              </a:ext>
            </a:extLst>
          </p:cNvPr>
          <p:cNvPicPr>
            <a:picLocks noChangeAspect="1"/>
          </p:cNvPicPr>
          <p:nvPr/>
        </p:nvPicPr>
        <p:blipFill>
          <a:blip r:embed="rId3"/>
          <a:stretch>
            <a:fillRect/>
          </a:stretch>
        </p:blipFill>
        <p:spPr>
          <a:xfrm>
            <a:off x="457200" y="1188721"/>
            <a:ext cx="4940036" cy="3531962"/>
          </a:xfrm>
          <a:prstGeom prst="rect">
            <a:avLst/>
          </a:prstGeom>
        </p:spPr>
      </p:pic>
      <p:sp>
        <p:nvSpPr>
          <p:cNvPr id="2" name="Text 0"/>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Tire Degradation by Compound</a:t>
            </a:r>
            <a:endParaRPr lang="en-US" sz="2800" dirty="0"/>
          </a:p>
        </p:txBody>
      </p:sp>
      <p:sp>
        <p:nvSpPr>
          <p:cNvPr id="3" name="Shape 1"/>
          <p:cNvSpPr/>
          <p:nvPr/>
        </p:nvSpPr>
        <p:spPr>
          <a:xfrm flipV="1">
            <a:off x="560173" y="811438"/>
            <a:ext cx="4563762" cy="45719"/>
          </a:xfrm>
          <a:prstGeom prst="rect">
            <a:avLst/>
          </a:prstGeom>
          <a:solidFill>
            <a:srgbClr val="E10600"/>
          </a:solidFill>
          <a:ln/>
        </p:spPr>
        <p:txBody>
          <a:bodyPr/>
          <a:lstStyle/>
          <a:p>
            <a:endParaRPr lang="en-US"/>
          </a:p>
        </p:txBody>
      </p:sp>
      <p:sp>
        <p:nvSpPr>
          <p:cNvPr id="6" name="Text 4"/>
          <p:cNvSpPr txBox="1"/>
          <p:nvPr/>
        </p:nvSpPr>
        <p:spPr>
          <a:xfrm>
            <a:off x="5760720" y="1188720"/>
            <a:ext cx="2926080" cy="365760"/>
          </a:xfrm>
          <a:prstGeom prst="rect">
            <a:avLst/>
          </a:prstGeom>
          <a:noFill/>
          <a:ln/>
        </p:spPr>
        <p:txBody>
          <a:bodyPr wrap="square" rtlCol="0" anchor="ctr"/>
          <a:lstStyle/>
          <a:p>
            <a:pPr marL="0" indent="0">
              <a:buNone/>
            </a:pPr>
            <a:r>
              <a:rPr lang="en-US" sz="1600" b="1" dirty="0">
                <a:solidFill>
                  <a:srgbClr val="E10600"/>
                </a:solidFill>
                <a:latin typeface="Calibri" pitchFamily="34" charset="0"/>
                <a:ea typeface="Calibri" pitchFamily="34" charset="-122"/>
                <a:cs typeface="Calibri" pitchFamily="34" charset="-120"/>
              </a:rPr>
              <a:t>Key Insight</a:t>
            </a:r>
            <a:endParaRPr lang="en-US" sz="1600" dirty="0"/>
          </a:p>
        </p:txBody>
      </p:sp>
      <p:sp>
        <p:nvSpPr>
          <p:cNvPr id="7" name="Shape 5"/>
          <p:cNvSpPr/>
          <p:nvPr/>
        </p:nvSpPr>
        <p:spPr>
          <a:xfrm>
            <a:off x="5863692" y="1527047"/>
            <a:ext cx="895453" cy="45719"/>
          </a:xfrm>
          <a:prstGeom prst="rect">
            <a:avLst/>
          </a:prstGeom>
          <a:solidFill>
            <a:srgbClr val="E10600"/>
          </a:solidFill>
          <a:ln/>
        </p:spPr>
        <p:txBody>
          <a:bodyPr/>
          <a:lstStyle/>
          <a:p>
            <a:endParaRPr lang="en-US"/>
          </a:p>
        </p:txBody>
      </p:sp>
      <p:sp>
        <p:nvSpPr>
          <p:cNvPr id="8" name="Text 6"/>
          <p:cNvSpPr txBox="1"/>
          <p:nvPr/>
        </p:nvSpPr>
        <p:spPr>
          <a:xfrm>
            <a:off x="5760720" y="1737360"/>
            <a:ext cx="2926080" cy="2560320"/>
          </a:xfrm>
          <a:prstGeom prst="rect">
            <a:avLst/>
          </a:prstGeom>
          <a:noFill/>
          <a:ln/>
        </p:spPr>
        <p:txBody>
          <a:bodyPr wrap="square" rtlCol="0" anchor="t"/>
          <a:lstStyle/>
          <a:p>
            <a:pPr marL="342900" indent="-342900" algn="just">
              <a:spcAft>
                <a:spcPts val="1000"/>
              </a:spcAft>
              <a:buSzPct val="100000"/>
              <a:buChar char="•"/>
            </a:pPr>
            <a:r>
              <a:rPr lang="en-US" sz="1200" dirty="0">
                <a:solidFill>
                  <a:srgbClr val="3A3A3A"/>
                </a:solidFill>
              </a:rPr>
              <a:t>SOFT compound cliffs around lap 28</a:t>
            </a:r>
            <a:endParaRPr lang="en-US" sz="1200" dirty="0"/>
          </a:p>
          <a:p>
            <a:pPr marL="342900" indent="-342900" algn="just">
              <a:spcAft>
                <a:spcPts val="1000"/>
              </a:spcAft>
              <a:buSzPct val="100000"/>
              <a:buChar char="•"/>
            </a:pPr>
            <a:r>
              <a:rPr lang="en-US" sz="1200" dirty="0">
                <a:solidFill>
                  <a:srgbClr val="3A3A3A"/>
                </a:solidFill>
              </a:rPr>
              <a:t>MEDIUM holds until around lap 45</a:t>
            </a:r>
            <a:endParaRPr lang="en-US" sz="1200" dirty="0"/>
          </a:p>
          <a:p>
            <a:pPr marL="342900" indent="-342900" algn="just">
              <a:spcAft>
                <a:spcPts val="1000"/>
              </a:spcAft>
              <a:buSzPct val="100000"/>
              <a:buChar char="•"/>
            </a:pPr>
            <a:r>
              <a:rPr lang="en-US" sz="1200" dirty="0">
                <a:solidFill>
                  <a:srgbClr val="3A3A3A"/>
                </a:solidFill>
              </a:rPr>
              <a:t>HARD shows the least degradation</a:t>
            </a:r>
          </a:p>
          <a:p>
            <a:pPr marL="342900" indent="-342900" algn="just">
              <a:spcAft>
                <a:spcPts val="1000"/>
              </a:spcAft>
              <a:buSzPct val="100000"/>
              <a:buChar char="•"/>
            </a:pPr>
            <a:r>
              <a:rPr lang="en-US" sz="1200" dirty="0">
                <a:solidFill>
                  <a:srgbClr val="3A3A3A"/>
                </a:solidFill>
              </a:rPr>
              <a:t>The first cliff detection attempt gave a false positive from yellow flags, so we corrected it with a rolling average. </a:t>
            </a:r>
            <a:endParaRPr lang="en-US" sz="12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4</a:t>
            </a:fld>
            <a:endParaRPr lang="en-US"/>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The Product - Race Strategy Explorer</a:t>
            </a:r>
            <a:endParaRPr lang="en-US" sz="2800" dirty="0"/>
          </a:p>
        </p:txBody>
      </p:sp>
      <p:sp>
        <p:nvSpPr>
          <p:cNvPr id="3" name="Shape 1"/>
          <p:cNvSpPr/>
          <p:nvPr/>
        </p:nvSpPr>
        <p:spPr>
          <a:xfrm flipV="1">
            <a:off x="589005" y="822549"/>
            <a:ext cx="5313406" cy="45719"/>
          </a:xfrm>
          <a:prstGeom prst="rect">
            <a:avLst/>
          </a:prstGeom>
          <a:solidFill>
            <a:srgbClr val="E10600"/>
          </a:solidFill>
          <a:ln/>
        </p:spPr>
        <p:txBody>
          <a:bodyPr/>
          <a:lstStyle/>
          <a:p>
            <a:endParaRPr lang="en-US"/>
          </a:p>
        </p:txBody>
      </p:sp>
      <p:sp>
        <p:nvSpPr>
          <p:cNvPr id="5" name="Text 3"/>
          <p:cNvSpPr txBox="1"/>
          <p:nvPr/>
        </p:nvSpPr>
        <p:spPr>
          <a:xfrm>
            <a:off x="457200" y="2560320"/>
            <a:ext cx="8229600" cy="457200"/>
          </a:xfrm>
          <a:prstGeom prst="rect">
            <a:avLst/>
          </a:prstGeom>
          <a:noFill/>
          <a:ln/>
        </p:spPr>
        <p:txBody>
          <a:bodyPr wrap="square" rtlCol="0" anchor="ctr"/>
          <a:lstStyle/>
          <a:p>
            <a:pPr marL="0" indent="0" algn="ctr">
              <a:buNone/>
            </a:pPr>
            <a:r>
              <a:rPr lang="en-US" sz="1400" dirty="0">
                <a:solidFill>
                  <a:srgbClr val="999999"/>
                </a:solidFill>
              </a:rPr>
              <a:t>[Insert Dashboard Screenshot Here]</a:t>
            </a:r>
            <a:endParaRPr lang="en-US" sz="14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5</a:t>
            </a:fld>
            <a:endParaRPr lang="en-US" dirty="0"/>
          </a:p>
        </p:txBody>
      </p:sp>
      <p:pic>
        <p:nvPicPr>
          <p:cNvPr id="7" name="Picture 6">
            <a:extLst>
              <a:ext uri="{FF2B5EF4-FFF2-40B4-BE49-F238E27FC236}">
                <a16:creationId xmlns:a16="http://schemas.microsoft.com/office/drawing/2014/main" id="{63FC9916-2855-03A3-E012-3E30A9317B47}"/>
              </a:ext>
            </a:extLst>
          </p:cNvPr>
          <p:cNvPicPr>
            <a:picLocks noChangeAspect="1"/>
          </p:cNvPicPr>
          <p:nvPr/>
        </p:nvPicPr>
        <p:blipFill>
          <a:blip r:embed="rId3"/>
          <a:stretch>
            <a:fillRect/>
          </a:stretch>
        </p:blipFill>
        <p:spPr>
          <a:xfrm>
            <a:off x="394097" y="1087395"/>
            <a:ext cx="6217675" cy="3509978"/>
          </a:xfrm>
          <a:prstGeom prst="rect">
            <a:avLst/>
          </a:prstGeom>
        </p:spPr>
      </p:pic>
      <p:sp>
        <p:nvSpPr>
          <p:cNvPr id="9" name="TextBox 8">
            <a:extLst>
              <a:ext uri="{FF2B5EF4-FFF2-40B4-BE49-F238E27FC236}">
                <a16:creationId xmlns:a16="http://schemas.microsoft.com/office/drawing/2014/main" id="{CE070D39-E906-F471-647E-C9656871DDF2}"/>
              </a:ext>
            </a:extLst>
          </p:cNvPr>
          <p:cNvSpPr txBox="1"/>
          <p:nvPr/>
        </p:nvSpPr>
        <p:spPr>
          <a:xfrm>
            <a:off x="6674875" y="1901100"/>
            <a:ext cx="2331309" cy="1882567"/>
          </a:xfrm>
          <a:prstGeom prst="rect">
            <a:avLst/>
          </a:prstGeom>
          <a:noFill/>
        </p:spPr>
        <p:txBody>
          <a:bodyPr wrap="square">
            <a:spAutoFit/>
          </a:bodyPr>
          <a:lstStyle/>
          <a:p>
            <a:pPr marL="342900" indent="-342900" algn="just">
              <a:spcAft>
                <a:spcPts val="1000"/>
              </a:spcAft>
              <a:buSzPct val="100000"/>
              <a:buChar char="•"/>
            </a:pPr>
            <a:r>
              <a:rPr lang="en-IN" sz="1200" dirty="0">
                <a:solidFill>
                  <a:srgbClr val="3A3A3A"/>
                </a:solidFill>
              </a:rPr>
              <a:t>Race Strategy Explorer – Filter by Race, Driver, Compound to see the tire degradation, stint analysis and driver consistency.</a:t>
            </a:r>
          </a:p>
          <a:p>
            <a:pPr marL="342900" indent="-342900" algn="just">
              <a:spcAft>
                <a:spcPts val="1000"/>
              </a:spcAft>
              <a:buSzPct val="100000"/>
              <a:buChar char="•"/>
            </a:pPr>
            <a:r>
              <a:rPr lang="en-IN" sz="1200" dirty="0">
                <a:solidFill>
                  <a:srgbClr val="3A3A3A"/>
                </a:solidFill>
              </a:rPr>
              <a:t>Final Vision: An interactive dashboard with an AI chatbot for layman end users.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C534-B1F5-94A5-6DCA-77DD311508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9BC571-5331-0314-F8B3-D4CA04759565}"/>
              </a:ext>
            </a:extLst>
          </p:cNvPr>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Key Insight: Why the Iteration Mattered?</a:t>
            </a:r>
            <a:endParaRPr lang="en-US" sz="2800" dirty="0"/>
          </a:p>
        </p:txBody>
      </p:sp>
      <p:sp>
        <p:nvSpPr>
          <p:cNvPr id="3" name="Shape 1">
            <a:extLst>
              <a:ext uri="{FF2B5EF4-FFF2-40B4-BE49-F238E27FC236}">
                <a16:creationId xmlns:a16="http://schemas.microsoft.com/office/drawing/2014/main" id="{DCD8641B-3773-3396-9D3F-9D0A59562C00}"/>
              </a:ext>
            </a:extLst>
          </p:cNvPr>
          <p:cNvSpPr/>
          <p:nvPr/>
        </p:nvSpPr>
        <p:spPr>
          <a:xfrm>
            <a:off x="560172" y="860029"/>
            <a:ext cx="5993027" cy="45719"/>
          </a:xfrm>
          <a:prstGeom prst="rect">
            <a:avLst/>
          </a:prstGeom>
          <a:solidFill>
            <a:srgbClr val="E10600"/>
          </a:solidFill>
          <a:ln/>
        </p:spPr>
        <p:txBody>
          <a:bodyPr/>
          <a:lstStyle/>
          <a:p>
            <a:endParaRPr lang="en-US"/>
          </a:p>
        </p:txBody>
      </p:sp>
      <p:sp>
        <p:nvSpPr>
          <p:cNvPr id="25" name="Slide Number Placeholder 0">
            <a:extLst>
              <a:ext uri="{FF2B5EF4-FFF2-40B4-BE49-F238E27FC236}">
                <a16:creationId xmlns:a16="http://schemas.microsoft.com/office/drawing/2014/main" id="{6FBEAC67-9B8D-2AF7-8DC1-832F8E770F05}"/>
              </a:ext>
            </a:extLst>
          </p:cNvPr>
          <p:cNvSpPr>
            <a:spLocks noGrp="1"/>
          </p:cNvSpPr>
          <p:nvPr>
            <p:ph type="sldNum" sz="quarter" idx="4294967295"/>
          </p:nvPr>
        </p:nvSpPr>
        <p:spPr>
          <a:xfrm>
            <a:off x="8412480" y="482803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99999"/>
                </a:solidFill>
              </a:defRPr>
            </a:lvl1pPr>
          </a:lstStyle>
          <a:p>
            <a:pPr algn="l"/>
            <a:fld id="{F7021451-1387-4CA6-816F-3879F97B5CBC}" type="slidenum">
              <a:rPr lang="en-US" b="0"/>
              <a:t>6</a:t>
            </a:fld>
            <a:endParaRPr lang="en-US"/>
          </a:p>
        </p:txBody>
      </p:sp>
      <p:sp>
        <p:nvSpPr>
          <p:cNvPr id="9" name="TextBox 8">
            <a:extLst>
              <a:ext uri="{FF2B5EF4-FFF2-40B4-BE49-F238E27FC236}">
                <a16:creationId xmlns:a16="http://schemas.microsoft.com/office/drawing/2014/main" id="{28EFF128-0DAE-F757-1568-1D4BDFE274A0}"/>
              </a:ext>
            </a:extLst>
          </p:cNvPr>
          <p:cNvSpPr txBox="1"/>
          <p:nvPr/>
        </p:nvSpPr>
        <p:spPr>
          <a:xfrm>
            <a:off x="457200" y="1442471"/>
            <a:ext cx="8093676" cy="1846659"/>
          </a:xfrm>
          <a:prstGeom prst="rect">
            <a:avLst/>
          </a:prstGeom>
          <a:noFill/>
        </p:spPr>
        <p:txBody>
          <a:bodyPr wrap="square">
            <a:spAutoFit/>
          </a:bodyPr>
          <a:lstStyle/>
          <a:p>
            <a:pPr marL="342900" indent="-342900" algn="just">
              <a:spcAft>
                <a:spcPts val="1200"/>
              </a:spcAft>
              <a:buSzPct val="100000"/>
              <a:buChar char="•"/>
            </a:pPr>
            <a:r>
              <a:rPr lang="en-IN" sz="1400" b="1" dirty="0"/>
              <a:t>First Pass:</a:t>
            </a:r>
            <a:r>
              <a:rPr lang="en-IN" sz="1400" dirty="0"/>
              <a:t> Raw lap deltas flagged the cliff laps too early. These were the false positives from yellow flags, safety cars and lockups.</a:t>
            </a:r>
          </a:p>
          <a:p>
            <a:pPr marL="342900" indent="-342900" algn="just">
              <a:spcAft>
                <a:spcPts val="1200"/>
              </a:spcAft>
              <a:buSzPct val="100000"/>
              <a:buChar char="•"/>
            </a:pPr>
            <a:r>
              <a:rPr lang="en-IN" sz="1400" b="1" dirty="0"/>
              <a:t>Fix:</a:t>
            </a:r>
            <a:r>
              <a:rPr lang="en-IN" sz="1400" dirty="0"/>
              <a:t> We applied a rolling average with a minimum lap filter before recomputing the degradation. </a:t>
            </a:r>
          </a:p>
          <a:p>
            <a:pPr marL="342900" indent="-342900" algn="just">
              <a:spcAft>
                <a:spcPts val="1200"/>
              </a:spcAft>
              <a:buSzPct val="100000"/>
              <a:buChar char="•"/>
            </a:pPr>
            <a:r>
              <a:rPr lang="en-IN" sz="1400" dirty="0"/>
              <a:t>The corrected analysis told us a completely different story about when each compound actually falls off. </a:t>
            </a:r>
          </a:p>
          <a:p>
            <a:pPr marL="342900" indent="-342900" algn="just">
              <a:spcAft>
                <a:spcPts val="1200"/>
              </a:spcAft>
              <a:buSzPct val="100000"/>
              <a:buChar char="•"/>
            </a:pPr>
            <a:r>
              <a:rPr lang="en-IN" sz="1400" b="1" dirty="0"/>
              <a:t>Why this matters? </a:t>
            </a:r>
            <a:r>
              <a:rPr lang="en-IN" sz="1400" dirty="0"/>
              <a:t>Getting the right answers matters less than knowing when you have the wrong one. The iteration was more valuable than the result.</a:t>
            </a:r>
            <a:endParaRPr lang="en-US" sz="1400" dirty="0"/>
          </a:p>
        </p:txBody>
      </p:sp>
    </p:spTree>
    <p:extLst>
      <p:ext uri="{BB962C8B-B14F-4D97-AF65-F5344CB8AC3E}">
        <p14:creationId xmlns:p14="http://schemas.microsoft.com/office/powerpoint/2010/main" val="285783831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RICE Prioritization</a:t>
            </a:r>
            <a:endParaRPr lang="en-US" sz="2800" dirty="0"/>
          </a:p>
        </p:txBody>
      </p:sp>
      <p:sp>
        <p:nvSpPr>
          <p:cNvPr id="3" name="Shape 1"/>
          <p:cNvSpPr/>
          <p:nvPr/>
        </p:nvSpPr>
        <p:spPr>
          <a:xfrm>
            <a:off x="568411" y="850391"/>
            <a:ext cx="2644346" cy="45719"/>
          </a:xfrm>
          <a:prstGeom prst="rect">
            <a:avLst/>
          </a:prstGeom>
          <a:solidFill>
            <a:srgbClr val="E10600"/>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474307228"/>
              </p:ext>
            </p:extLst>
          </p:nvPr>
        </p:nvGraphicFramePr>
        <p:xfrm>
          <a:off x="457200" y="1188720"/>
          <a:ext cx="4206240" cy="2240280"/>
        </p:xfrm>
        <a:graphic>
          <a:graphicData uri="http://schemas.openxmlformats.org/drawingml/2006/table">
            <a:tbl>
              <a:tblPr/>
              <a:tblGrid>
                <a:gridCol w="548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rPr>
                        <a:t>Rank</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0600"/>
                    </a:solidFill>
                  </a:tcPr>
                </a:tc>
                <a:tc>
                  <a:txBody>
                    <a:bodyPr/>
                    <a:lstStyle/>
                    <a:p>
                      <a:pPr marL="0" indent="0" algn="ctr">
                        <a:buNone/>
                      </a:pPr>
                      <a:r>
                        <a:rPr lang="en-US" sz="1000" b="1" dirty="0">
                          <a:solidFill>
                            <a:srgbClr val="FFFFFF"/>
                          </a:solidFill>
                        </a:rPr>
                        <a:t>Feature</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0600"/>
                    </a:solidFill>
                  </a:tcPr>
                </a:tc>
                <a:tc>
                  <a:txBody>
                    <a:bodyPr/>
                    <a:lstStyle/>
                    <a:p>
                      <a:pPr marL="0" indent="0" algn="ctr">
                        <a:buNone/>
                      </a:pPr>
                      <a:r>
                        <a:rPr lang="en-US" sz="1000" b="1" dirty="0">
                          <a:solidFill>
                            <a:srgbClr val="FFFFFF"/>
                          </a:solidFill>
                        </a:rPr>
                        <a:t>RICE</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0600"/>
                    </a:solidFill>
                  </a:tcPr>
                </a:tc>
                <a:extLst>
                  <a:ext uri="{0D108BD9-81ED-4DB2-BD59-A6C34878D82A}">
                    <a16:rowId xmlns:a16="http://schemas.microsoft.com/office/drawing/2014/main" val="10000"/>
                  </a:ext>
                </a:extLst>
              </a:tr>
              <a:tr h="274320">
                <a:tc>
                  <a:txBody>
                    <a:bodyPr/>
                    <a:lstStyle/>
                    <a:p>
                      <a:pPr marL="0" indent="0" algn="ctr">
                        <a:buNone/>
                      </a:pPr>
                      <a:r>
                        <a:rPr lang="en-US" sz="1000" dirty="0">
                          <a:solidFill>
                            <a:srgbClr val="000000"/>
                          </a:solidFill>
                        </a:rPr>
                        <a:t>1</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Driver Leaderboard</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b="1" dirty="0">
                          <a:solidFill>
                            <a:srgbClr val="E10600"/>
                          </a:solidFill>
                        </a:rPr>
                        <a:t>23.8</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1000" dirty="0">
                          <a:solidFill>
                            <a:srgbClr val="000000"/>
                          </a:solidFill>
                        </a:rPr>
                        <a:t>2</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Multi-Season Benchmarking</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8.0</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1000" dirty="0">
                          <a:solidFill>
                            <a:srgbClr val="000000"/>
                          </a:solidFill>
                        </a:rPr>
                        <a:t>3</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Strategy Comparison</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7.8</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ctr">
                        <a:buNone/>
                      </a:pPr>
                      <a:r>
                        <a:rPr lang="en-US" sz="1000" dirty="0">
                          <a:solidFill>
                            <a:srgbClr val="000000"/>
                          </a:solidFill>
                        </a:rPr>
                        <a:t>4</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Weather Integration</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5.6</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ctr">
                        <a:buNone/>
                      </a:pPr>
                      <a:r>
                        <a:rPr lang="en-US" sz="1000" dirty="0">
                          <a:solidFill>
                            <a:srgbClr val="000000"/>
                          </a:solidFill>
                        </a:rPr>
                        <a:t>5</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Undercut Simulator</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3.2</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lgn="ctr">
                        <a:buNone/>
                      </a:pPr>
                      <a:r>
                        <a:rPr lang="en-US" sz="1000" dirty="0">
                          <a:solidFill>
                            <a:srgbClr val="000000"/>
                          </a:solidFill>
                        </a:rPr>
                        <a:t>6</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Real-Time Mode</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1.4</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lgn="ctr">
                        <a:buNone/>
                      </a:pPr>
                      <a:r>
                        <a:rPr lang="en-US" sz="1000" dirty="0">
                          <a:solidFill>
                            <a:srgbClr val="000000"/>
                          </a:solidFill>
                        </a:rPr>
                        <a:t>7</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ML Pit Predictor</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dirty="0">
                          <a:solidFill>
                            <a:srgbClr val="000000"/>
                          </a:solidFill>
                        </a:rPr>
                        <a:t>1.1</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5303520" y="1188720"/>
            <a:ext cx="3383280" cy="2286000"/>
          </a:xfrm>
          <a:prstGeom prst="roundRect">
            <a:avLst>
              <a:gd name="adj" fmla="val 4000"/>
            </a:avLst>
          </a:prstGeom>
          <a:solidFill>
            <a:srgbClr val="F2F2F2"/>
          </a:solidFill>
          <a:ln/>
        </p:spPr>
        <p:txBody>
          <a:bodyPr/>
          <a:lstStyle/>
          <a:p>
            <a:endParaRPr lang="en-US"/>
          </a:p>
        </p:txBody>
      </p:sp>
      <p:sp>
        <p:nvSpPr>
          <p:cNvPr id="4" name="Text 3"/>
          <p:cNvSpPr txBox="1"/>
          <p:nvPr/>
        </p:nvSpPr>
        <p:spPr>
          <a:xfrm>
            <a:off x="5486400" y="1371600"/>
            <a:ext cx="3017520" cy="365760"/>
          </a:xfrm>
          <a:prstGeom prst="rect">
            <a:avLst/>
          </a:prstGeom>
          <a:noFill/>
          <a:ln/>
        </p:spPr>
        <p:txBody>
          <a:bodyPr wrap="square" rtlCol="0" anchor="ctr"/>
          <a:lstStyle/>
          <a:p>
            <a:pPr marL="0" indent="0">
              <a:buNone/>
            </a:pPr>
            <a:r>
              <a:rPr lang="en-US" sz="1600" b="1" dirty="0">
                <a:solidFill>
                  <a:srgbClr val="E10600"/>
                </a:solidFill>
              </a:rPr>
              <a:t>The Takeaway</a:t>
            </a:r>
            <a:endParaRPr lang="en-US" sz="1600" dirty="0"/>
          </a:p>
        </p:txBody>
      </p:sp>
      <p:sp>
        <p:nvSpPr>
          <p:cNvPr id="7" name="Text 4"/>
          <p:cNvSpPr txBox="1"/>
          <p:nvPr/>
        </p:nvSpPr>
        <p:spPr>
          <a:xfrm>
            <a:off x="5486400" y="1828800"/>
            <a:ext cx="3017520" cy="1463040"/>
          </a:xfrm>
          <a:prstGeom prst="rect">
            <a:avLst/>
          </a:prstGeom>
          <a:noFill/>
          <a:ln/>
        </p:spPr>
        <p:txBody>
          <a:bodyPr wrap="square" rtlCol="0" anchor="ctr"/>
          <a:lstStyle/>
          <a:p>
            <a:pPr marL="0" indent="0">
              <a:buNone/>
            </a:pPr>
            <a:r>
              <a:rPr lang="en-US" sz="1100" dirty="0">
                <a:solidFill>
                  <a:srgbClr val="3A3A3A"/>
                </a:solidFill>
              </a:rPr>
              <a:t>The two features that sound most exciting are Real Time Mode and ML Predictor. But they are scored the lowest. It’s not because they're bad, but because they carry the highest uncertainty and cost. The Driver Leaderboard scored the highest because the analytical work was already de-risked. This was the point of doing RICE.</a:t>
            </a:r>
            <a:endParaRPr lang="en-US" sz="11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7</a:t>
            </a:fld>
            <a:endParaRPr lang="en-US"/>
          </a:p>
        </p:txBody>
      </p:sp>
    </p:spTree>
  </p:cSld>
  <p:clrMapOvr>
    <a:masterClrMapping/>
  </p:clrMapOvr>
  <p:transition spd="slow">
    <p:plus/>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3ACB5-040C-78F1-9DEA-D26C05C7E0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1671093-FD27-C4ED-3024-5FC84CD7DD25}"/>
              </a:ext>
            </a:extLst>
          </p:cNvPr>
          <p:cNvSpPr txBox="1"/>
          <p:nvPr/>
        </p:nvSpPr>
        <p:spPr>
          <a:xfrm>
            <a:off x="457200" y="274320"/>
            <a:ext cx="8229600" cy="640080"/>
          </a:xfrm>
          <a:prstGeom prst="rect">
            <a:avLst/>
          </a:prstGeom>
          <a:noFill/>
          <a:ln/>
        </p:spPr>
        <p:txBody>
          <a:bodyPr wrap="square" rtlCol="0" anchor="ctr"/>
          <a:lstStyle/>
          <a:p>
            <a:pPr marL="0" indent="0">
              <a:buNone/>
            </a:pPr>
            <a:r>
              <a:rPr lang="en-IN" sz="2800" b="1" dirty="0">
                <a:solidFill>
                  <a:srgbClr val="1A1A1A"/>
                </a:solidFill>
                <a:latin typeface="Calibri" pitchFamily="34" charset="0"/>
                <a:ea typeface="Calibri" pitchFamily="34" charset="-122"/>
                <a:cs typeface="Calibri" pitchFamily="34" charset="-120"/>
              </a:rPr>
              <a:t>P</a:t>
            </a:r>
            <a:r>
              <a:rPr lang="en-US" sz="2800" b="1" dirty="0" err="1">
                <a:solidFill>
                  <a:srgbClr val="1A1A1A"/>
                </a:solidFill>
                <a:latin typeface="Calibri" pitchFamily="34" charset="0"/>
                <a:ea typeface="Calibri" pitchFamily="34" charset="-122"/>
                <a:cs typeface="Calibri" pitchFamily="34" charset="-120"/>
              </a:rPr>
              <a:t>rocess</a:t>
            </a:r>
            <a:r>
              <a:rPr lang="en-US" sz="2800" b="1" dirty="0">
                <a:solidFill>
                  <a:srgbClr val="1A1A1A"/>
                </a:solidFill>
                <a:latin typeface="Calibri" pitchFamily="34" charset="0"/>
                <a:ea typeface="Calibri" pitchFamily="34" charset="-122"/>
                <a:cs typeface="Calibri" pitchFamily="34" charset="-120"/>
              </a:rPr>
              <a:t>: DMAIC Pit Stop Analysis</a:t>
            </a:r>
            <a:endParaRPr lang="en-US" sz="2800" dirty="0"/>
          </a:p>
        </p:txBody>
      </p:sp>
      <p:sp>
        <p:nvSpPr>
          <p:cNvPr id="3" name="Shape 1">
            <a:extLst>
              <a:ext uri="{FF2B5EF4-FFF2-40B4-BE49-F238E27FC236}">
                <a16:creationId xmlns:a16="http://schemas.microsoft.com/office/drawing/2014/main" id="{1C4CB21F-D276-224B-F1D1-F62BA7B27EA4}"/>
              </a:ext>
            </a:extLst>
          </p:cNvPr>
          <p:cNvSpPr/>
          <p:nvPr/>
        </p:nvSpPr>
        <p:spPr>
          <a:xfrm flipV="1">
            <a:off x="547815" y="827491"/>
            <a:ext cx="4880919" cy="69610"/>
          </a:xfrm>
          <a:prstGeom prst="rect">
            <a:avLst/>
          </a:prstGeom>
          <a:solidFill>
            <a:srgbClr val="E10600"/>
          </a:solidFill>
          <a:ln/>
        </p:spPr>
        <p:txBody>
          <a:bodyPr/>
          <a:lstStyle/>
          <a:p>
            <a:endParaRPr lang="en-US"/>
          </a:p>
        </p:txBody>
      </p:sp>
      <p:sp>
        <p:nvSpPr>
          <p:cNvPr id="25" name="Slide Number Placeholder 0">
            <a:extLst>
              <a:ext uri="{FF2B5EF4-FFF2-40B4-BE49-F238E27FC236}">
                <a16:creationId xmlns:a16="http://schemas.microsoft.com/office/drawing/2014/main" id="{1D0CE514-1DEE-0863-3979-2B4969C76AF9}"/>
              </a:ext>
            </a:extLst>
          </p:cNvPr>
          <p:cNvSpPr>
            <a:spLocks noGrp="1"/>
          </p:cNvSpPr>
          <p:nvPr>
            <p:ph type="sldNum" sz="quarter" idx="4294967295"/>
          </p:nvPr>
        </p:nvSpPr>
        <p:spPr>
          <a:xfrm>
            <a:off x="8412480" y="482803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99999"/>
                </a:solidFill>
              </a:defRPr>
            </a:lvl1pPr>
          </a:lstStyle>
          <a:p>
            <a:pPr algn="l"/>
            <a:fld id="{F7021451-1387-4CA6-816F-3879F97B5CBC}" type="slidenum">
              <a:rPr lang="en-US" b="0"/>
              <a:t>8</a:t>
            </a:fld>
            <a:endParaRPr lang="en-US"/>
          </a:p>
        </p:txBody>
      </p:sp>
      <p:sp>
        <p:nvSpPr>
          <p:cNvPr id="9" name="TextBox 8">
            <a:extLst>
              <a:ext uri="{FF2B5EF4-FFF2-40B4-BE49-F238E27FC236}">
                <a16:creationId xmlns:a16="http://schemas.microsoft.com/office/drawing/2014/main" id="{1EC2B597-71DF-5AD2-31CD-CE6760BC4720}"/>
              </a:ext>
            </a:extLst>
          </p:cNvPr>
          <p:cNvSpPr txBox="1"/>
          <p:nvPr/>
        </p:nvSpPr>
        <p:spPr>
          <a:xfrm>
            <a:off x="547815" y="1238874"/>
            <a:ext cx="8229599" cy="2862322"/>
          </a:xfrm>
          <a:prstGeom prst="rect">
            <a:avLst/>
          </a:prstGeom>
          <a:noFill/>
        </p:spPr>
        <p:txBody>
          <a:bodyPr wrap="square">
            <a:spAutoFit/>
          </a:bodyPr>
          <a:lstStyle/>
          <a:p>
            <a:pPr marL="342900" indent="-342900" algn="just">
              <a:spcAft>
                <a:spcPts val="1200"/>
              </a:spcAft>
              <a:buSzPct val="100000"/>
              <a:buChar char="•"/>
            </a:pPr>
            <a:r>
              <a:rPr lang="en-IN" sz="1400" b="1" dirty="0"/>
              <a:t>Define: </a:t>
            </a:r>
            <a:r>
              <a:rPr lang="en-IN" sz="1400" dirty="0"/>
              <a:t>Pit Stop time variation costs track position. All the pre race strategy calculations depend on consistent stop times.</a:t>
            </a:r>
          </a:p>
          <a:p>
            <a:pPr marL="342900" indent="-342900" algn="just">
              <a:spcAft>
                <a:spcPts val="1200"/>
              </a:spcAft>
              <a:buSzPct val="100000"/>
              <a:buChar char="•"/>
            </a:pPr>
            <a:r>
              <a:rPr lang="en-IN" sz="1400" b="1" dirty="0"/>
              <a:t>Measure: </a:t>
            </a:r>
            <a:r>
              <a:rPr lang="en-IN" sz="1400" dirty="0"/>
              <a:t>Pulled Pit Stop timing data across 3 races via FastF1. I found significant variation within races (Eg: Albon’s 119s to 128s in Bahrain)</a:t>
            </a:r>
          </a:p>
          <a:p>
            <a:pPr marL="342900" indent="-342900" algn="just">
              <a:spcAft>
                <a:spcPts val="1200"/>
              </a:spcAft>
              <a:buSzPct val="100000"/>
              <a:buChar char="•"/>
            </a:pPr>
            <a:r>
              <a:rPr lang="en-IN" sz="1400" b="1" dirty="0" err="1"/>
              <a:t>Analyze</a:t>
            </a:r>
            <a:r>
              <a:rPr lang="en-IN" sz="1400" b="1" dirty="0"/>
              <a:t>: </a:t>
            </a:r>
            <a:r>
              <a:rPr lang="en-IN" sz="1400" dirty="0"/>
              <a:t>Highest standard variation was for Esteban Ocon (22.38) followed by </a:t>
            </a:r>
            <a:r>
              <a:rPr lang="en-US" sz="1400" dirty="0"/>
              <a:t>Logan Sargeant (18.31) and Lewis  Hamilton (17.03). Monaco showed the most variation for a circuit across all drivers. Monza had the least. </a:t>
            </a:r>
          </a:p>
          <a:p>
            <a:pPr marL="342900" indent="-342900" algn="just">
              <a:spcAft>
                <a:spcPts val="1200"/>
              </a:spcAft>
              <a:buSzPct val="100000"/>
              <a:buChar char="•"/>
            </a:pPr>
            <a:r>
              <a:rPr lang="en-US" sz="1400" b="1" dirty="0"/>
              <a:t>Improve: </a:t>
            </a:r>
            <a:r>
              <a:rPr lang="en-US" sz="1400" dirty="0"/>
              <a:t>Standardize the crew procedures, regular machinery checks, flag any outlier stops for review.</a:t>
            </a:r>
          </a:p>
          <a:p>
            <a:pPr marL="342900" indent="-342900" algn="just">
              <a:spcAft>
                <a:spcPts val="1200"/>
              </a:spcAft>
              <a:buSzPct val="100000"/>
              <a:buChar char="•"/>
            </a:pPr>
            <a:r>
              <a:rPr lang="en-US" sz="1400" b="1" dirty="0"/>
              <a:t>Control: </a:t>
            </a:r>
            <a:r>
              <a:rPr lang="en-US" sz="1400" dirty="0"/>
              <a:t>Insert a rolling average monitor along with post race feedback protocol for stops which exceed a target threshold.</a:t>
            </a:r>
          </a:p>
        </p:txBody>
      </p:sp>
    </p:spTree>
    <p:extLst>
      <p:ext uri="{BB962C8B-B14F-4D97-AF65-F5344CB8AC3E}">
        <p14:creationId xmlns:p14="http://schemas.microsoft.com/office/powerpoint/2010/main" val="2932194902"/>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1645920"/>
            <a:ext cx="7315200" cy="9144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ROADMAP</a:t>
            </a:r>
            <a:endParaRPr lang="en-US" sz="3600" dirty="0"/>
          </a:p>
        </p:txBody>
      </p:sp>
      <p:sp>
        <p:nvSpPr>
          <p:cNvPr id="3" name="Text 1"/>
          <p:cNvSpPr txBox="1"/>
          <p:nvPr/>
        </p:nvSpPr>
        <p:spPr>
          <a:xfrm>
            <a:off x="731520" y="2560320"/>
            <a:ext cx="7315200" cy="548640"/>
          </a:xfrm>
          <a:prstGeom prst="rect">
            <a:avLst/>
          </a:prstGeom>
          <a:noFill/>
          <a:ln/>
        </p:spPr>
        <p:txBody>
          <a:bodyPr wrap="square" rtlCol="0" anchor="ctr"/>
          <a:lstStyle/>
          <a:p>
            <a:pPr marL="0" indent="0">
              <a:buNone/>
            </a:pPr>
            <a:r>
              <a:rPr lang="en-US" sz="1600" dirty="0">
                <a:solidFill>
                  <a:srgbClr val="999999"/>
                </a:solidFill>
                <a:latin typeface="Calibri" pitchFamily="34" charset="0"/>
                <a:ea typeface="Calibri" pitchFamily="34" charset="-122"/>
                <a:cs typeface="Calibri" pitchFamily="34" charset="-120"/>
              </a:rPr>
              <a:t>Now / Next / Later</a:t>
            </a:r>
            <a:endParaRPr lang="en-US" sz="1600" dirty="0"/>
          </a:p>
        </p:txBody>
      </p:sp>
      <p:sp>
        <p:nvSpPr>
          <p:cNvPr id="4" name="Shape 2"/>
          <p:cNvSpPr/>
          <p:nvPr/>
        </p:nvSpPr>
        <p:spPr>
          <a:xfrm>
            <a:off x="7589520" y="1645920"/>
            <a:ext cx="1097280" cy="365760"/>
          </a:xfrm>
          <a:prstGeom prst="roundRect">
            <a:avLst>
              <a:gd name="adj" fmla="val 12500"/>
            </a:avLst>
          </a:prstGeom>
          <a:solidFill>
            <a:srgbClr val="E10600"/>
          </a:solidFill>
          <a:ln/>
        </p:spPr>
        <p:txBody>
          <a:bodyPr/>
          <a:lstStyle/>
          <a:p>
            <a:endParaRPr lang="en-US"/>
          </a:p>
        </p:txBody>
      </p:sp>
      <p:sp>
        <p:nvSpPr>
          <p:cNvPr id="5" name="Text 3"/>
          <p:cNvSpPr txBox="1"/>
          <p:nvPr/>
        </p:nvSpPr>
        <p:spPr>
          <a:xfrm>
            <a:off x="7589520" y="1645920"/>
            <a:ext cx="10972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5</a:t>
            </a:r>
            <a:endParaRPr lang="en-US" sz="1100" dirty="0"/>
          </a:p>
        </p:txBody>
      </p:sp>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Now / Next / Later</a:t>
            </a:r>
            <a:endParaRPr lang="en-US" sz="2800" dirty="0"/>
          </a:p>
        </p:txBody>
      </p:sp>
      <p:sp>
        <p:nvSpPr>
          <p:cNvPr id="3" name="Shape 1"/>
          <p:cNvSpPr/>
          <p:nvPr/>
        </p:nvSpPr>
        <p:spPr>
          <a:xfrm>
            <a:off x="535460" y="845819"/>
            <a:ext cx="2866768" cy="45719"/>
          </a:xfrm>
          <a:prstGeom prst="rect">
            <a:avLst/>
          </a:prstGeom>
          <a:solidFill>
            <a:srgbClr val="E10600"/>
          </a:solidFill>
          <a:ln/>
        </p:spPr>
        <p:txBody>
          <a:bodyPr/>
          <a:lstStyle/>
          <a:p>
            <a:endParaRPr lang="en-US"/>
          </a:p>
        </p:txBody>
      </p:sp>
      <p:sp>
        <p:nvSpPr>
          <p:cNvPr id="4" name="Shape 2"/>
          <p:cNvSpPr/>
          <p:nvPr/>
        </p:nvSpPr>
        <p:spPr>
          <a:xfrm>
            <a:off x="457200" y="1188720"/>
            <a:ext cx="2560320" cy="2926080"/>
          </a:xfrm>
          <a:prstGeom prst="roundRect">
            <a:avLst>
              <a:gd name="adj" fmla="val 3571"/>
            </a:avLst>
          </a:prstGeom>
          <a:solidFill>
            <a:srgbClr val="E10600"/>
          </a:solidFill>
          <a:ln/>
        </p:spPr>
        <p:txBody>
          <a:bodyPr/>
          <a:lstStyle/>
          <a:p>
            <a:endParaRPr lang="en-US"/>
          </a:p>
        </p:txBody>
      </p:sp>
      <p:sp>
        <p:nvSpPr>
          <p:cNvPr id="5" name="Text 3"/>
          <p:cNvSpPr txBox="1"/>
          <p:nvPr/>
        </p:nvSpPr>
        <p:spPr>
          <a:xfrm>
            <a:off x="457200" y="1325880"/>
            <a:ext cx="2560320" cy="365760"/>
          </a:xfrm>
          <a:prstGeom prst="rect">
            <a:avLst/>
          </a:prstGeom>
          <a:noFill/>
          <a:ln/>
        </p:spPr>
        <p:txBody>
          <a:bodyPr wrap="square" rtlCol="0" anchor="ctr"/>
          <a:lstStyle/>
          <a:p>
            <a:pPr marL="0" indent="0" algn="ctr">
              <a:buNone/>
            </a:pPr>
            <a:r>
              <a:rPr lang="en-US" sz="1800" b="1" dirty="0">
                <a:solidFill>
                  <a:srgbClr val="FFFFFF"/>
                </a:solidFill>
              </a:rPr>
              <a:t>NOW</a:t>
            </a:r>
            <a:endParaRPr lang="en-US" sz="1800" dirty="0"/>
          </a:p>
        </p:txBody>
      </p:sp>
      <p:sp>
        <p:nvSpPr>
          <p:cNvPr id="6" name="Text 4"/>
          <p:cNvSpPr txBox="1"/>
          <p:nvPr/>
        </p:nvSpPr>
        <p:spPr>
          <a:xfrm>
            <a:off x="640080" y="1828800"/>
            <a:ext cx="2194560" cy="2011680"/>
          </a:xfrm>
          <a:prstGeom prst="rect">
            <a:avLst/>
          </a:prstGeom>
          <a:noFill/>
          <a:ln/>
        </p:spPr>
        <p:txBody>
          <a:bodyPr wrap="square" rtlCol="0" anchor="ctr"/>
          <a:lstStyle/>
          <a:p>
            <a:pPr marL="0" indent="0" algn="ctr">
              <a:buNone/>
            </a:pPr>
            <a:r>
              <a:rPr lang="en-US" sz="1200" dirty="0">
                <a:solidFill>
                  <a:srgbClr val="FFFFFF"/>
                </a:solidFill>
              </a:rPr>
              <a:t>Driver Leaderboard</a:t>
            </a:r>
            <a:endParaRPr lang="en-US" sz="1200" dirty="0"/>
          </a:p>
          <a:p>
            <a:pPr marL="0" indent="0" algn="ctr">
              <a:buNone/>
            </a:pPr>
            <a:endParaRPr lang="en-US" sz="1200" dirty="0"/>
          </a:p>
          <a:p>
            <a:pPr marL="0" indent="0" algn="ctr">
              <a:buNone/>
            </a:pPr>
            <a:r>
              <a:rPr lang="en-US" sz="1200" dirty="0">
                <a:solidFill>
                  <a:srgbClr val="FFFFFF"/>
                </a:solidFill>
              </a:rPr>
              <a:t>Multi-Season Benchmarking</a:t>
            </a:r>
            <a:endParaRPr lang="en-US" sz="1200" dirty="0"/>
          </a:p>
        </p:txBody>
      </p:sp>
      <p:sp>
        <p:nvSpPr>
          <p:cNvPr id="7" name="Shape 5"/>
          <p:cNvSpPr/>
          <p:nvPr/>
        </p:nvSpPr>
        <p:spPr>
          <a:xfrm>
            <a:off x="3291840" y="1188720"/>
            <a:ext cx="2560320" cy="2926080"/>
          </a:xfrm>
          <a:prstGeom prst="roundRect">
            <a:avLst>
              <a:gd name="adj" fmla="val 3571"/>
            </a:avLst>
          </a:prstGeom>
          <a:solidFill>
            <a:srgbClr val="1E1E1E"/>
          </a:solidFill>
          <a:ln/>
        </p:spPr>
        <p:txBody>
          <a:bodyPr/>
          <a:lstStyle/>
          <a:p>
            <a:endParaRPr lang="en-US"/>
          </a:p>
        </p:txBody>
      </p:sp>
      <p:sp>
        <p:nvSpPr>
          <p:cNvPr id="8" name="Text 6"/>
          <p:cNvSpPr txBox="1"/>
          <p:nvPr/>
        </p:nvSpPr>
        <p:spPr>
          <a:xfrm>
            <a:off x="3291840" y="1325880"/>
            <a:ext cx="2560320" cy="365760"/>
          </a:xfrm>
          <a:prstGeom prst="rect">
            <a:avLst/>
          </a:prstGeom>
          <a:noFill/>
          <a:ln/>
        </p:spPr>
        <p:txBody>
          <a:bodyPr wrap="square" rtlCol="0" anchor="ctr"/>
          <a:lstStyle/>
          <a:p>
            <a:pPr marL="0" indent="0" algn="ctr">
              <a:buNone/>
            </a:pPr>
            <a:r>
              <a:rPr lang="en-US" sz="1800" b="1" dirty="0">
                <a:solidFill>
                  <a:srgbClr val="FFFFFF"/>
                </a:solidFill>
              </a:rPr>
              <a:t>NEXT</a:t>
            </a:r>
            <a:endParaRPr lang="en-US" sz="1800" dirty="0"/>
          </a:p>
        </p:txBody>
      </p:sp>
      <p:sp>
        <p:nvSpPr>
          <p:cNvPr id="9" name="Text 7"/>
          <p:cNvSpPr txBox="1"/>
          <p:nvPr/>
        </p:nvSpPr>
        <p:spPr>
          <a:xfrm>
            <a:off x="3474720" y="1828800"/>
            <a:ext cx="2194560" cy="2011680"/>
          </a:xfrm>
          <a:prstGeom prst="rect">
            <a:avLst/>
          </a:prstGeom>
          <a:noFill/>
          <a:ln/>
        </p:spPr>
        <p:txBody>
          <a:bodyPr wrap="square" rtlCol="0" anchor="ctr"/>
          <a:lstStyle/>
          <a:p>
            <a:pPr marL="0" indent="0" algn="ctr">
              <a:buNone/>
            </a:pPr>
            <a:r>
              <a:rPr lang="en-US" sz="1200" dirty="0">
                <a:solidFill>
                  <a:srgbClr val="999999"/>
                </a:solidFill>
              </a:rPr>
              <a:t>Competitor Strategy</a:t>
            </a:r>
            <a:endParaRPr lang="en-US" sz="1200" dirty="0"/>
          </a:p>
          <a:p>
            <a:pPr marL="0" indent="0" algn="ctr">
              <a:buNone/>
            </a:pPr>
            <a:r>
              <a:rPr lang="en-US" sz="1200" dirty="0">
                <a:solidFill>
                  <a:srgbClr val="999999"/>
                </a:solidFill>
              </a:rPr>
              <a:t>Comparison</a:t>
            </a:r>
            <a:endParaRPr lang="en-US" sz="1200" dirty="0"/>
          </a:p>
          <a:p>
            <a:pPr marL="0" indent="0" algn="ctr">
              <a:buNone/>
            </a:pPr>
            <a:endParaRPr lang="en-US" sz="1200" dirty="0"/>
          </a:p>
          <a:p>
            <a:pPr marL="0" indent="0" algn="ctr">
              <a:buNone/>
            </a:pPr>
            <a:r>
              <a:rPr lang="en-US" sz="1200" dirty="0">
                <a:solidFill>
                  <a:srgbClr val="999999"/>
                </a:solidFill>
              </a:rPr>
              <a:t>Weather Integration</a:t>
            </a:r>
            <a:endParaRPr lang="en-US" sz="1200" dirty="0"/>
          </a:p>
        </p:txBody>
      </p:sp>
      <p:sp>
        <p:nvSpPr>
          <p:cNvPr id="10" name="Shape 8"/>
          <p:cNvSpPr/>
          <p:nvPr/>
        </p:nvSpPr>
        <p:spPr>
          <a:xfrm>
            <a:off x="6126480" y="1188720"/>
            <a:ext cx="2560320" cy="2926080"/>
          </a:xfrm>
          <a:prstGeom prst="roundRect">
            <a:avLst>
              <a:gd name="adj" fmla="val 3571"/>
            </a:avLst>
          </a:prstGeom>
          <a:solidFill>
            <a:srgbClr val="F2F2F2"/>
          </a:solidFill>
          <a:ln/>
        </p:spPr>
        <p:txBody>
          <a:bodyPr/>
          <a:lstStyle/>
          <a:p>
            <a:endParaRPr lang="en-US"/>
          </a:p>
        </p:txBody>
      </p:sp>
      <p:sp>
        <p:nvSpPr>
          <p:cNvPr id="11" name="Text 9"/>
          <p:cNvSpPr txBox="1"/>
          <p:nvPr/>
        </p:nvSpPr>
        <p:spPr>
          <a:xfrm>
            <a:off x="6126480" y="1325880"/>
            <a:ext cx="2560320" cy="365760"/>
          </a:xfrm>
          <a:prstGeom prst="rect">
            <a:avLst/>
          </a:prstGeom>
          <a:noFill/>
          <a:ln/>
        </p:spPr>
        <p:txBody>
          <a:bodyPr wrap="square" rtlCol="0" anchor="ctr"/>
          <a:lstStyle/>
          <a:p>
            <a:pPr marL="0" indent="0" algn="ctr">
              <a:buNone/>
            </a:pPr>
            <a:r>
              <a:rPr lang="en-US" sz="1800" b="1" dirty="0">
                <a:solidFill>
                  <a:srgbClr val="3A3A3A"/>
                </a:solidFill>
              </a:rPr>
              <a:t>LATER</a:t>
            </a:r>
            <a:endParaRPr lang="en-US" sz="1800" dirty="0"/>
          </a:p>
        </p:txBody>
      </p:sp>
      <p:sp>
        <p:nvSpPr>
          <p:cNvPr id="12" name="Text 10"/>
          <p:cNvSpPr txBox="1"/>
          <p:nvPr/>
        </p:nvSpPr>
        <p:spPr>
          <a:xfrm>
            <a:off x="6309360" y="1828800"/>
            <a:ext cx="2194560" cy="2011680"/>
          </a:xfrm>
          <a:prstGeom prst="rect">
            <a:avLst/>
          </a:prstGeom>
          <a:noFill/>
          <a:ln/>
        </p:spPr>
        <p:txBody>
          <a:bodyPr wrap="square" rtlCol="0" anchor="ctr"/>
          <a:lstStyle/>
          <a:p>
            <a:pPr marL="0" indent="0" algn="ctr">
              <a:buNone/>
            </a:pPr>
            <a:r>
              <a:rPr lang="en-US" sz="1200" dirty="0">
                <a:solidFill>
                  <a:srgbClr val="3A3A3A"/>
                </a:solidFill>
              </a:rPr>
              <a:t>Undercut Simulator</a:t>
            </a:r>
            <a:endParaRPr lang="en-US" sz="1200" dirty="0"/>
          </a:p>
          <a:p>
            <a:pPr marL="0" indent="0" algn="ctr">
              <a:buNone/>
            </a:pPr>
            <a:endParaRPr lang="en-US" sz="1200" dirty="0"/>
          </a:p>
          <a:p>
            <a:pPr marL="0" indent="0" algn="ctr">
              <a:buNone/>
            </a:pPr>
            <a:r>
              <a:rPr lang="en-US" sz="1200" dirty="0">
                <a:solidFill>
                  <a:srgbClr val="3A3A3A"/>
                </a:solidFill>
              </a:rPr>
              <a:t>Real-Time Mode</a:t>
            </a:r>
            <a:endParaRPr lang="en-US" sz="1200" dirty="0"/>
          </a:p>
          <a:p>
            <a:pPr marL="0" indent="0" algn="ctr">
              <a:buNone/>
            </a:pPr>
            <a:endParaRPr lang="en-US" sz="1200" dirty="0"/>
          </a:p>
          <a:p>
            <a:pPr marL="0" indent="0" algn="ctr">
              <a:buNone/>
            </a:pPr>
            <a:r>
              <a:rPr lang="en-US" sz="1200" dirty="0">
                <a:solidFill>
                  <a:srgbClr val="3A3A3A"/>
                </a:solidFill>
              </a:rPr>
              <a:t>ML Pit Predictor</a:t>
            </a:r>
            <a:endParaRPr lang="en-US" sz="12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10</a:t>
            </a:fld>
            <a:endParaRPr lang="en-US"/>
          </a:p>
        </p:txBody>
      </p:sp>
      <p:sp>
        <p:nvSpPr>
          <p:cNvPr id="14" name="TextBox 13">
            <a:extLst>
              <a:ext uri="{FF2B5EF4-FFF2-40B4-BE49-F238E27FC236}">
                <a16:creationId xmlns:a16="http://schemas.microsoft.com/office/drawing/2014/main" id="{1C5FC1F5-CC17-5B17-418B-64C709D56892}"/>
              </a:ext>
            </a:extLst>
          </p:cNvPr>
          <p:cNvSpPr txBox="1"/>
          <p:nvPr/>
        </p:nvSpPr>
        <p:spPr>
          <a:xfrm>
            <a:off x="457200" y="4209806"/>
            <a:ext cx="8150311" cy="523220"/>
          </a:xfrm>
          <a:prstGeom prst="rect">
            <a:avLst/>
          </a:prstGeom>
          <a:noFill/>
        </p:spPr>
        <p:txBody>
          <a:bodyPr wrap="square">
            <a:spAutoFit/>
          </a:bodyPr>
          <a:lstStyle/>
          <a:p>
            <a:pPr algn="just">
              <a:spcAft>
                <a:spcPts val="1200"/>
              </a:spcAft>
              <a:buSzPct val="100000"/>
            </a:pPr>
            <a:r>
              <a:rPr lang="en-IN" sz="1400" b="1" dirty="0"/>
              <a:t>Phase 10: </a:t>
            </a:r>
            <a:r>
              <a:rPr lang="en-IN" sz="1400" dirty="0"/>
              <a:t>F1 Knowledge Chatbot – a text to SQL over the database, designed for a casual fan to ask questions and get data backed answers. </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200">
        <p:zoom dir="in"/>
      </p:transition>
    </mc:Choice>
    <mc:Fallback xmlns="">
      <p:transition spd="slow">
        <p:zoom dir="in"/>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1B363208-F7E4-FB43-D7EB-B5E083E8D562}"/>
              </a:ext>
            </a:extLst>
          </p:cNvPr>
          <p:cNvSpPr/>
          <p:nvPr/>
        </p:nvSpPr>
        <p:spPr>
          <a:xfrm>
            <a:off x="535459" y="1140858"/>
            <a:ext cx="4341341" cy="3460715"/>
          </a:xfrm>
          <a:prstGeom prst="roundRect">
            <a:avLst>
              <a:gd name="adj" fmla="val 4000"/>
            </a:avLst>
          </a:prstGeom>
          <a:solidFill>
            <a:srgbClr val="F2F2F2"/>
          </a:solidFill>
          <a:ln/>
        </p:spPr>
        <p:txBody>
          <a:bodyPr/>
          <a:lstStyle/>
          <a:p>
            <a:endParaRPr lang="en-US"/>
          </a:p>
        </p:txBody>
      </p:sp>
      <p:sp>
        <p:nvSpPr>
          <p:cNvPr id="2" name="Text 0"/>
          <p:cNvSpPr txBox="1"/>
          <p:nvPr/>
        </p:nvSpPr>
        <p:spPr>
          <a:xfrm>
            <a:off x="457200" y="274320"/>
            <a:ext cx="822960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Recommendation</a:t>
            </a:r>
            <a:endParaRPr lang="en-US" sz="2800" dirty="0"/>
          </a:p>
        </p:txBody>
      </p:sp>
      <p:sp>
        <p:nvSpPr>
          <p:cNvPr id="3" name="Shape 1"/>
          <p:cNvSpPr/>
          <p:nvPr/>
        </p:nvSpPr>
        <p:spPr>
          <a:xfrm>
            <a:off x="572528" y="868679"/>
            <a:ext cx="2619633" cy="45719"/>
          </a:xfrm>
          <a:prstGeom prst="rect">
            <a:avLst/>
          </a:prstGeom>
          <a:solidFill>
            <a:srgbClr val="E10600"/>
          </a:solidFill>
          <a:ln/>
        </p:spPr>
        <p:txBody>
          <a:bodyPr/>
          <a:lstStyle/>
          <a:p>
            <a:endParaRPr lang="en-US"/>
          </a:p>
        </p:txBody>
      </p:sp>
      <p:sp>
        <p:nvSpPr>
          <p:cNvPr id="4" name="Text 2"/>
          <p:cNvSpPr txBox="1"/>
          <p:nvPr/>
        </p:nvSpPr>
        <p:spPr>
          <a:xfrm>
            <a:off x="720810" y="1185343"/>
            <a:ext cx="3888259" cy="3255594"/>
          </a:xfrm>
          <a:prstGeom prst="rect">
            <a:avLst/>
          </a:prstGeom>
          <a:noFill/>
          <a:ln/>
        </p:spPr>
        <p:txBody>
          <a:bodyPr wrap="square" rtlCol="0" anchor="t"/>
          <a:lstStyle/>
          <a:p>
            <a:pPr marL="285750" indent="-285750">
              <a:buFont typeface="Arial" panose="020B0604020202020204" pitchFamily="34" charset="0"/>
              <a:buChar char="•"/>
            </a:pPr>
            <a:r>
              <a:rPr lang="en-US" sz="1400" dirty="0"/>
              <a:t>Start with what’s de-risked. Ship the leaderboard and multi-season benchmarking first. Keep the Real Time Mode and ML Predictor for when the data access and validation uncertainty is resolved.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Next Step: Build the interactive dashboard with the AI chatbot, making this accessible to any F1 fan, not just for data people.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
        <p:nvSpPr>
          <p:cNvPr id="25" name="Slide Number Placeholder 0"/>
          <p:cNvSpPr>
            <a:spLocks noGrp="1"/>
          </p:cNvSpPr>
          <p:nvPr>
            <p:ph type="sldNum" sz="quarter" idx="4294967295"/>
          </p:nvPr>
        </p:nvSpPr>
        <p:spPr>
          <a:xfrm>
            <a:off x="8412480" y="48280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11</a:t>
            </a:fld>
            <a:endParaRPr lang="en-US" dirty="0"/>
          </a:p>
        </p:txBody>
      </p:sp>
      <p:pic>
        <p:nvPicPr>
          <p:cNvPr id="15" name="Picture 14">
            <a:extLst>
              <a:ext uri="{FF2B5EF4-FFF2-40B4-BE49-F238E27FC236}">
                <a16:creationId xmlns:a16="http://schemas.microsoft.com/office/drawing/2014/main" id="{7A3E7982-4F02-FA48-8DEA-813B2E839388}"/>
              </a:ext>
            </a:extLst>
          </p:cNvPr>
          <p:cNvPicPr>
            <a:picLocks noChangeAspect="1"/>
          </p:cNvPicPr>
          <p:nvPr/>
        </p:nvPicPr>
        <p:blipFill>
          <a:blip r:embed="rId3"/>
          <a:stretch>
            <a:fillRect/>
          </a:stretch>
        </p:blipFill>
        <p:spPr>
          <a:xfrm>
            <a:off x="4960639" y="193590"/>
            <a:ext cx="3977413" cy="444534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zoom/>
      </p:transition>
    </mc:Choice>
    <mc:Fallback xmlns="">
      <p:transition spd="slow">
        <p:zo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463040"/>
            <a:ext cx="78638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THANK YOU</a:t>
            </a:r>
            <a:endParaRPr lang="en-US" sz="4200" dirty="0"/>
          </a:p>
        </p:txBody>
      </p:sp>
      <p:sp>
        <p:nvSpPr>
          <p:cNvPr id="3" name="Shape 1"/>
          <p:cNvSpPr/>
          <p:nvPr/>
        </p:nvSpPr>
        <p:spPr>
          <a:xfrm>
            <a:off x="771885" y="2584210"/>
            <a:ext cx="2663293" cy="45719"/>
          </a:xfrm>
          <a:prstGeom prst="rect">
            <a:avLst/>
          </a:prstGeom>
          <a:solidFill>
            <a:srgbClr val="E10600"/>
          </a:solidFill>
          <a:ln/>
        </p:spPr>
        <p:txBody>
          <a:bodyPr/>
          <a:lstStyle/>
          <a:p>
            <a:endParaRPr lang="en-US"/>
          </a:p>
        </p:txBody>
      </p:sp>
      <p:sp>
        <p:nvSpPr>
          <p:cNvPr id="4" name="Text 2"/>
          <p:cNvSpPr txBox="1"/>
          <p:nvPr/>
        </p:nvSpPr>
        <p:spPr>
          <a:xfrm>
            <a:off x="640080" y="2834639"/>
            <a:ext cx="7315200" cy="1543771"/>
          </a:xfrm>
          <a:prstGeom prst="rect">
            <a:avLst/>
          </a:prstGeom>
          <a:noFill/>
          <a:ln/>
        </p:spPr>
        <p:txBody>
          <a:bodyPr wrap="square" rtlCol="0" anchor="ctr"/>
          <a:lstStyle/>
          <a:p>
            <a:pPr lvl="0"/>
            <a:r>
              <a:rPr lang="en-US" sz="1600" b="1" dirty="0">
                <a:solidFill>
                  <a:srgbClr val="FFFFFF"/>
                </a:solidFill>
              </a:rPr>
              <a:t>Shrikanth Roopesh</a:t>
            </a:r>
          </a:p>
          <a:p>
            <a:pPr lvl="0"/>
            <a:r>
              <a:rPr lang="en-US" sz="1600" dirty="0">
                <a:hlinkClick r:id="rId3"/>
              </a:rPr>
              <a:t>Contact Me</a:t>
            </a:r>
            <a:endParaRPr lang="en-US" sz="1600" dirty="0"/>
          </a:p>
          <a:p>
            <a:pPr lvl="0"/>
            <a:r>
              <a:rPr lang="en-US" sz="1600" dirty="0">
                <a:hlinkClick r:id="rId4"/>
              </a:rPr>
              <a:t>LinkedIn</a:t>
            </a:r>
            <a:endParaRPr lang="en-US" sz="1600" dirty="0"/>
          </a:p>
          <a:p>
            <a:pPr lvl="0"/>
            <a:r>
              <a:rPr lang="en-US" sz="1600" dirty="0">
                <a:hlinkClick r:id="rId5"/>
              </a:rPr>
              <a:t>GitHub</a:t>
            </a:r>
            <a:endParaRPr lang="en-US" sz="1600" dirty="0"/>
          </a:p>
          <a:p>
            <a:r>
              <a:rPr lang="en-US" sz="1600" dirty="0">
                <a:hlinkClick r:id="rId6"/>
              </a:rPr>
              <a:t>Portfolio</a:t>
            </a:r>
            <a:endParaRPr lang="en-US" sz="1600" dirty="0"/>
          </a:p>
          <a:p>
            <a:pPr marL="0" indent="0">
              <a:buNone/>
            </a:pPr>
            <a:endParaRPr lang="en-US" sz="1600" dirty="0"/>
          </a:p>
        </p:txBody>
      </p:sp>
      <p:sp>
        <p:nvSpPr>
          <p:cNvPr id="25" name="Slide Number Placeholder 0"/>
          <p:cNvSpPr>
            <a:spLocks noGrp="1"/>
          </p:cNvSpPr>
          <p:nvPr>
            <p:ph type="sldNum" sz="quarter" idx="4294967295"/>
          </p:nvPr>
        </p:nvSpPr>
        <p:spPr>
          <a:xfrm>
            <a:off x="8412480" y="47091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99999"/>
                </a:solidFill>
              </a:defRPr>
            </a:lvl1pPr>
          </a:lstStyle>
          <a:p>
            <a:pPr algn="l"/>
            <a:fld id="{F7021451-1387-4CA6-816F-3879F97B5CBC}" type="slidenum">
              <a:rPr lang="en-US" b="0"/>
              <a:t>12</a:t>
            </a:fld>
            <a:endParaRPr lang="en-US"/>
          </a:p>
        </p:txBody>
      </p:sp>
      <p:pic>
        <p:nvPicPr>
          <p:cNvPr id="13" name="Picture 12" descr="Have your name on the Austrian Grand Prix Chequered Flag">
            <a:extLst>
              <a:ext uri="{FF2B5EF4-FFF2-40B4-BE49-F238E27FC236}">
                <a16:creationId xmlns:a16="http://schemas.microsoft.com/office/drawing/2014/main" id="{70DD3925-EB51-D98B-3756-5960FBC9C8C5}"/>
              </a:ext>
            </a:extLst>
          </p:cNvPr>
          <p:cNvPicPr>
            <a:picLocks noChangeAspect="1"/>
          </p:cNvPicPr>
          <p:nvPr/>
        </p:nvPicPr>
        <p:blipFill>
          <a:blip r:embed="rId7"/>
          <a:srcRect l="766" r="19337"/>
          <a:stretch>
            <a:fillRect/>
          </a:stretch>
        </p:blipFill>
        <p:spPr>
          <a:xfrm>
            <a:off x="5067901" y="1003860"/>
            <a:ext cx="3920624" cy="2760221"/>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73316 -0.01142 L 0.73316 -0.01142 C 0.72014 -0.01049 0.70711 -0.01049 0.69409 -0.00864 C 0.68211 -0.00648 0.67031 -0.00216 0.6585 0.00062 C 0.64774 0.00309 0.63698 0.00463 0.62621 0.00648 C 0.60659 0.00463 0.58663 0.0034 0.56701 0.00062 C 0.55955 -0.00062 0.55243 -0.00463 0.54496 -0.00555 C 0.52517 -0.00771 0.50538 -0.00741 0.48559 -0.00864 C 0.4743 -0.01111 0.45243 -0.01636 0.43975 -0.01759 C 0.42343 -0.01913 0.40711 -0.01944 0.39062 -0.02068 C 0.35816 -0.02469 0.35156 -0.02531 0.31093 -0.03271 C 0.30191 -0.03426 0.29288 -0.03673 0.28385 -0.03858 C 0.27083 -0.03765 0.25781 -0.03704 0.24496 -0.03549 C 0.24097 -0.03518 0.23698 -0.03148 0.23298 -0.03271 C 0.21632 -0.03765 0.21284 -0.04815 0.19913 -0.06265 C 0.1875 -0.07531 0.17448 -0.08426 0.16354 -0.09876 C 0.1125 -0.16697 0.19652 -0.05401 0.13298 -0.14413 C 0.12847 -0.15062 0.10902 -0.17407 0.1026 -0.18025 C 0.0927 -0.1895 0.07951 -0.19846 0.06857 -0.20123 C 0.06024 -0.2037 0.05173 -0.20308 0.04323 -0.20432 C 0.03698 -0.20525 0.03073 -0.20648 0.02448 -0.20741 L -0.01945 -0.21327 C -0.03924 -0.21049 -0.0592 -0.21018 -0.07882 -0.20432 C -0.08386 -0.20308 -0.08768 -0.19568 -0.09236 -0.19228 C -0.09462 -0.19074 -0.09688 -0.19043 -0.09914 -0.1892 C -0.10209 -0.17315 -0.10348 -0.15617 -0.10764 -0.14105 C -0.11094 -0.1287 -0.11719 -0.11944 -0.12118 -0.10802 C -0.12622 -0.09352 -0.12986 -0.07747 -0.13473 -0.06265 C -0.13941 -0.04907 -0.1441 -0.03518 -0.15 -0.02346 C -0.15486 -0.01389 -0.16702 0.00062 -0.16702 0.00062 C -0.17848 0.04136 -0.16823 0.00957 -0.1823 0.04259 C -0.18473 0.04846 -0.18542 0.05772 -0.18907 0.0608 C -0.19792 0.06852 -0.21789 0.07284 -0.21789 0.07284 C -0.24045 0.0679 -0.26337 0.06574 -0.28559 0.05772 C -0.29184 0.05556 -0.29705 0.04815 -0.30261 0.04259 C -0.31042 0.03519 -0.32726 0.01636 -0.33473 0.00648 C -0.36771 -0.03673 -0.33594 0.0034 -0.37032 -0.05957 C -0.39254 -0.10031 -0.40139 -0.11358 -0.42795 -0.13518 C -0.43177 -0.13796 -0.43594 -0.1392 -0.43993 -0.14105 C -0.48282 -0.13796 -0.52587 -0.13858 -0.56875 -0.1321 C -0.57188 -0.13148 -0.57292 -0.12346 -0.57552 -0.12006 C -0.57813 -0.11636 -0.58108 -0.11389 -0.58403 -0.1108 C -0.58559 -0.10586 -0.58681 -0.10031 -0.58907 -0.09599 C -0.5915 -0.09105 -0.59601 -0.08981 -0.59757 -0.08395 C -0.60139 -0.06883 -0.59844 -0.04846 -0.60434 -0.03549 C -0.61268 -0.01697 -0.61424 -0.01234 -0.62639 0.00648 C -0.63212 0.01574 -0.63855 0.02315 -0.64497 0.03056 C -0.64775 0.0608 -0.64427 0.03735 -0.65174 0.06389 C -0.65782 0.0855 -0.65157 0.07562 -0.66355 0.09692 C -0.66667 0.10247 -0.67066 0.10648 -0.67379 0.11204 C -0.67639 0.11667 -0.67795 0.12253 -0.68056 0.12716 C -0.68316 0.13148 -0.69045 0.14043 -0.6941 0.14229 C -0.69792 0.14414 -0.70209 0.14414 -0.70608 0.14537 C -0.71563 0.14414 -0.72535 0.14475 -0.73473 0.14229 C -0.74445 0.13982 -0.74427 0.12346 -0.75 0.11204 C -0.75191 0.10864 -0.75903 0.10463 -0.76198 0.10309 C -0.78368 0.07192 -0.76545 0.09445 -0.81945 0.06975 C -0.83993 0.0605 -0.84914 0.05278 -0.86858 0.04877 C -0.87639 0.04722 -0.88438 0.04692 -0.89219 0.04568 C -0.94011 0.0392 -0.92396 0.04198 -0.96511 0.03364 C -0.9691 0.03179 -0.97292 0.02871 -0.97709 0.02778 C -0.98368 0.02593 -1.01372 0.02068 -1.02448 0.01852 C -1.08716 -0.00617 -1.03455 0.01266 -1.18559 0.01266 " pathEditMode="relative" ptsTypes="AAAAAAAAAAAAAAAAAAAAAAAAAAAAAAAAAAAAAAAAAAAAAAAAAAAAAAAAAAAAAAA">
                                      <p:cBhvr>
                                        <p:cTn id="6" dur="4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1 Strategy">
  <a:themeElements>
    <a:clrScheme name="F1 Strategy">
      <a:dk1>
        <a:srgbClr val="1A1A1A"/>
      </a:dk1>
      <a:lt1>
        <a:srgbClr val="FFFFFF"/>
      </a:lt1>
      <a:dk2>
        <a:srgbClr val="3A3A3A"/>
      </a:dk2>
      <a:lt2>
        <a:srgbClr val="F2F2F2"/>
      </a:lt2>
      <a:accent1>
        <a:srgbClr val="E10600"/>
      </a:accent1>
      <a:accent2>
        <a:srgbClr val="1E1E1E"/>
      </a:accent2>
      <a:accent3>
        <a:srgbClr val="C8102E"/>
      </a:accent3>
      <a:accent4>
        <a:srgbClr val="F5F5F5"/>
      </a:accent4>
      <a:accent5>
        <a:srgbClr val="8B0000"/>
      </a:accent5>
      <a:accent6>
        <a:srgbClr val="666666"/>
      </a:accent6>
      <a:hlink>
        <a:srgbClr val="E10600"/>
      </a:hlink>
      <a:folHlink>
        <a:srgbClr val="C8102E"/>
      </a:folHlink>
    </a:clrScheme>
    <a:fontScheme name="F1 Strateg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745</Words>
  <Application>Microsoft Office PowerPoint</Application>
  <PresentationFormat>On-screen Show (16:9)</PresentationFormat>
  <Paragraphs>122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F1 Strategy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Race Strategy Intelligence Platform</dc:title>
  <dc:subject>F1 Race Strategy Intelligence Platform</dc:subject>
  <dc:creator>Shrikanth Roopesh</dc:creator>
  <cp:lastModifiedBy>Shrikanth R</cp:lastModifiedBy>
  <cp:revision>3</cp:revision>
  <dcterms:created xsi:type="dcterms:W3CDTF">2026-10-09T02:38:26Z</dcterms:created>
  <dcterms:modified xsi:type="dcterms:W3CDTF">2026-10-09T05:08:46Z</dcterms:modified>
</cp:coreProperties>
</file>